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1" r:id="rId6"/>
    <p:sldId id="260" r:id="rId7"/>
    <p:sldId id="264" r:id="rId8"/>
    <p:sldId id="262" r:id="rId9"/>
    <p:sldId id="263" r:id="rId10"/>
    <p:sldId id="265"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792" y="-9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B68438AB-5700-49E5-A258-74DE54C925F1}" type="datetimeFigureOut">
              <a:rPr lang="en-US" smtClean="0"/>
              <a:t>9/24/2020</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22B480C4-16A1-45D2-92F2-34374D8F6F1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B68438AB-5700-49E5-A258-74DE54C925F1}" type="datetimeFigureOut">
              <a:rPr lang="en-US" smtClean="0"/>
              <a:t>9/24/2020</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22B480C4-16A1-45D2-92F2-34374D8F6F13}" type="slidenum">
              <a:rPr lang="en-US" smtClean="0"/>
              <a:t>‹#›</a:t>
            </a:fld>
            <a:endParaRPr lang="en-US"/>
          </a:p>
        </p:txBody>
      </p:sp>
      <p:sp>
        <p:nvSpPr>
          <p:cNvPr id="7" name="Title 6"/>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B68438AB-5700-49E5-A258-74DE54C925F1}" type="datetimeFigureOut">
              <a:rPr lang="en-US" smtClean="0"/>
              <a:t>9/24/2020</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22B480C4-16A1-45D2-92F2-34374D8F6F13}" type="slidenum">
              <a:rPr lang="en-US" smtClean="0"/>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B68438AB-5700-49E5-A258-74DE54C925F1}" type="datetimeFigureOut">
              <a:rPr lang="en-US" smtClean="0"/>
              <a:t>9/24/2020</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22B480C4-16A1-45D2-92F2-34374D8F6F13}" type="slidenum">
              <a:rPr lang="en-US" smtClean="0"/>
              <a:t>‹#›</a:t>
            </a:fld>
            <a:endParaRPr lang="en-US"/>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B68438AB-5700-49E5-A258-74DE54C925F1}" type="datetimeFigureOut">
              <a:rPr lang="en-US" smtClean="0"/>
              <a:t>9/24/2020</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22B480C4-16A1-45D2-92F2-34374D8F6F13}"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extLst/>
          </a:lstStyle>
          <a:p>
            <a:fld id="{B68438AB-5700-49E5-A258-74DE54C925F1}" type="datetimeFigureOut">
              <a:rPr lang="en-US" smtClean="0"/>
              <a:t>9/24/2020</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22B480C4-16A1-45D2-92F2-34374D8F6F13}" type="slidenum">
              <a:rPr lang="en-US" smtClean="0"/>
              <a:t>‹#›</a:t>
            </a:fld>
            <a:endParaRPr lang="en-US"/>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B68438AB-5700-49E5-A258-74DE54C925F1}" type="datetimeFigureOut">
              <a:rPr lang="en-US" smtClean="0"/>
              <a:t>9/24/2020</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22B480C4-16A1-45D2-92F2-34374D8F6F1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extLst/>
          </a:lstStyle>
          <a:p>
            <a:fld id="{B68438AB-5700-49E5-A258-74DE54C925F1}" type="datetimeFigureOut">
              <a:rPr lang="en-US" smtClean="0"/>
              <a:t>9/24/2020</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22B480C4-16A1-45D2-92F2-34374D8F6F13}"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B68438AB-5700-49E5-A258-74DE54C925F1}" type="datetimeFigureOut">
              <a:rPr lang="en-US" smtClean="0"/>
              <a:t>9/24/2020</a:t>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22B480C4-16A1-45D2-92F2-34374D8F6F13}" type="slidenum">
              <a:rPr lang="en-US" smtClean="0"/>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9" name="Freeform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B68438AB-5700-49E5-A258-74DE54C925F1}" type="datetimeFigureOut">
              <a:rPr lang="en-US" smtClean="0"/>
              <a:t>9/24/2020</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22B480C4-16A1-45D2-92F2-34374D8F6F1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B68438AB-5700-49E5-A258-74DE54C925F1}" type="datetimeFigureOut">
              <a:rPr lang="en-US" smtClean="0"/>
              <a:t>9/24/2020</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22B480C4-16A1-45D2-92F2-34374D8F6F1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Freeform 11"/>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B68438AB-5700-49E5-A258-74DE54C925F1}" type="datetimeFigureOut">
              <a:rPr lang="en-US" smtClean="0"/>
              <a:t>9/24/2020</a:t>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22B480C4-16A1-45D2-92F2-34374D8F6F13}"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ctr"/>
            <a:r>
              <a:rPr lang="en-IN" dirty="0" smtClean="0">
                <a:latin typeface="Algerian" pitchFamily="82" charset="0"/>
              </a:rPr>
              <a:t>ENCODERS</a:t>
            </a:r>
            <a:endParaRPr lang="en-US" dirty="0">
              <a:latin typeface="Algerian" pitchFamily="82" charset="0"/>
            </a:endParaRP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9970722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An </a:t>
            </a:r>
            <a:r>
              <a:rPr lang="en-US" b="1" dirty="0"/>
              <a:t>Encoder</a:t>
            </a:r>
            <a:r>
              <a:rPr lang="en-US" dirty="0"/>
              <a:t> is a combinational circuit that performs the reverse operation of Decoder</a:t>
            </a:r>
            <a:r>
              <a:rPr lang="en-US" dirty="0" smtClean="0"/>
              <a:t>.</a:t>
            </a:r>
          </a:p>
          <a:p>
            <a:r>
              <a:rPr lang="en-US" dirty="0" smtClean="0"/>
              <a:t> </a:t>
            </a:r>
            <a:r>
              <a:rPr lang="en-US" dirty="0"/>
              <a:t>It has maximum of 2</a:t>
            </a:r>
            <a:r>
              <a:rPr lang="en-US" baseline="30000" dirty="0"/>
              <a:t>n</a:t>
            </a:r>
            <a:r>
              <a:rPr lang="en-US" dirty="0"/>
              <a:t> input lines and ‘n’ output lines. It will produce a binary code equivalent to the input, which is active High</a:t>
            </a:r>
            <a:r>
              <a:rPr lang="en-US" dirty="0" smtClean="0"/>
              <a:t>.</a:t>
            </a:r>
          </a:p>
          <a:p>
            <a:r>
              <a:rPr lang="en-US" dirty="0" smtClean="0"/>
              <a:t> </a:t>
            </a:r>
            <a:r>
              <a:rPr lang="en-US" dirty="0"/>
              <a:t>Therefore, the encoder encodes 2</a:t>
            </a:r>
            <a:r>
              <a:rPr lang="en-US" baseline="30000" dirty="0"/>
              <a:t>n</a:t>
            </a:r>
            <a:r>
              <a:rPr lang="en-US" dirty="0"/>
              <a:t> input lines with ‘n’ bits. It is optional to represent the enable signal in encoders.</a:t>
            </a:r>
          </a:p>
        </p:txBody>
      </p:sp>
      <p:sp>
        <p:nvSpPr>
          <p:cNvPr id="2" name="Title 1"/>
          <p:cNvSpPr>
            <a:spLocks noGrp="1"/>
          </p:cNvSpPr>
          <p:nvPr>
            <p:ph type="title"/>
          </p:nvPr>
        </p:nvSpPr>
        <p:spPr/>
        <p:txBody>
          <a:bodyPr/>
          <a:lstStyle/>
          <a:p>
            <a:endParaRPr lang="en-US"/>
          </a:p>
        </p:txBody>
      </p:sp>
    </p:spTree>
    <p:extLst>
      <p:ext uri="{BB962C8B-B14F-4D97-AF65-F5344CB8AC3E}">
        <p14:creationId xmlns:p14="http://schemas.microsoft.com/office/powerpoint/2010/main" val="1971101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Let 4 to 2 Encoder has four inputs Y</a:t>
            </a:r>
            <a:r>
              <a:rPr lang="en-US" baseline="-25000" dirty="0"/>
              <a:t>3</a:t>
            </a:r>
            <a:r>
              <a:rPr lang="en-US" dirty="0"/>
              <a:t>, Y</a:t>
            </a:r>
            <a:r>
              <a:rPr lang="en-US" baseline="-25000" dirty="0"/>
              <a:t>2</a:t>
            </a:r>
            <a:r>
              <a:rPr lang="en-US" dirty="0"/>
              <a:t>, Y</a:t>
            </a:r>
            <a:r>
              <a:rPr lang="en-US" baseline="-25000" dirty="0"/>
              <a:t>1</a:t>
            </a:r>
            <a:r>
              <a:rPr lang="en-US" dirty="0"/>
              <a:t> &amp; Y</a:t>
            </a:r>
            <a:r>
              <a:rPr lang="en-US" baseline="-25000" dirty="0"/>
              <a:t>0</a:t>
            </a:r>
            <a:r>
              <a:rPr lang="en-US" dirty="0"/>
              <a:t> and two outputs A</a:t>
            </a:r>
            <a:r>
              <a:rPr lang="en-US" baseline="-25000" dirty="0"/>
              <a:t>1</a:t>
            </a:r>
            <a:r>
              <a:rPr lang="en-US" dirty="0"/>
              <a:t> &amp; A</a:t>
            </a:r>
            <a:r>
              <a:rPr lang="en-US" baseline="-25000" dirty="0"/>
              <a:t>0</a:t>
            </a:r>
            <a:r>
              <a:rPr lang="en-US" dirty="0"/>
              <a:t>. The </a:t>
            </a:r>
            <a:r>
              <a:rPr lang="en-US" b="1" dirty="0"/>
              <a:t>block diagram</a:t>
            </a:r>
            <a:r>
              <a:rPr lang="en-US" dirty="0"/>
              <a:t> of 4 to 2 Encoder is shown in the following figure.</a:t>
            </a:r>
          </a:p>
        </p:txBody>
      </p:sp>
      <p:sp>
        <p:nvSpPr>
          <p:cNvPr id="2" name="Title 1"/>
          <p:cNvSpPr>
            <a:spLocks noGrp="1"/>
          </p:cNvSpPr>
          <p:nvPr>
            <p:ph type="title"/>
          </p:nvPr>
        </p:nvSpPr>
        <p:spPr/>
        <p:txBody>
          <a:bodyPr>
            <a:normAutofit fontScale="90000"/>
          </a:bodyPr>
          <a:lstStyle/>
          <a:p>
            <a:r>
              <a:rPr lang="en-US" dirty="0"/>
              <a:t>4 to 2 Encoder</a:t>
            </a:r>
            <a:br>
              <a:rPr lang="en-US" dirty="0"/>
            </a:br>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92" y="3645024"/>
            <a:ext cx="5715000" cy="2592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517340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At any time, only one of these 4 inputs can be ‘1’ in order to get the respective binary code at the output. The </a:t>
            </a:r>
            <a:r>
              <a:rPr lang="en-US" b="1" dirty="0"/>
              <a:t>Truth table</a:t>
            </a:r>
            <a:r>
              <a:rPr lang="en-US" dirty="0"/>
              <a:t> of 4 to 2 encoder is shown below.</a:t>
            </a:r>
          </a:p>
        </p:txBody>
      </p:sp>
      <p:sp>
        <p:nvSpPr>
          <p:cNvPr id="2" name="Title 1"/>
          <p:cNvSpPr>
            <a:spLocks noGrp="1"/>
          </p:cNvSpPr>
          <p:nvPr>
            <p:ph type="title"/>
          </p:nvPr>
        </p:nvSpPr>
        <p:spPr/>
        <p:txBody>
          <a:bodyPr/>
          <a:lstStyle/>
          <a:p>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8" y="3645024"/>
            <a:ext cx="7344816" cy="27020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998201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1714500" y="2691606"/>
            <a:ext cx="5715000" cy="2105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p:txBody>
          <a:bodyPr/>
          <a:lstStyle/>
          <a:p>
            <a:r>
              <a:rPr lang="en-IN" dirty="0" smtClean="0"/>
              <a:t>CIRCUIT DIAGRAM</a:t>
            </a:r>
            <a:endParaRPr lang="en-US" dirty="0"/>
          </a:p>
        </p:txBody>
      </p:sp>
      <p:sp>
        <p:nvSpPr>
          <p:cNvPr id="4" name="Rectangle 3"/>
          <p:cNvSpPr/>
          <p:nvPr/>
        </p:nvSpPr>
        <p:spPr>
          <a:xfrm>
            <a:off x="827584" y="1412776"/>
            <a:ext cx="7848872" cy="923330"/>
          </a:xfrm>
          <a:prstGeom prst="rect">
            <a:avLst/>
          </a:prstGeom>
        </p:spPr>
        <p:txBody>
          <a:bodyPr wrap="square">
            <a:spAutoFit/>
          </a:bodyPr>
          <a:lstStyle/>
          <a:p>
            <a:r>
              <a:rPr lang="en-US" b="0" i="0" dirty="0" smtClean="0">
                <a:solidFill>
                  <a:srgbClr val="000000"/>
                </a:solidFill>
                <a:effectLst/>
                <a:latin typeface="verdana"/>
              </a:rPr>
              <a:t>The logical expression of the term A0 and A1 is as follows:</a:t>
            </a:r>
          </a:p>
          <a:p>
            <a:r>
              <a:rPr lang="en-US" b="0" i="0" dirty="0" smtClean="0">
                <a:solidFill>
                  <a:srgbClr val="000000"/>
                </a:solidFill>
                <a:effectLst/>
                <a:latin typeface="verdana"/>
              </a:rPr>
              <a:t>A</a:t>
            </a:r>
            <a:r>
              <a:rPr lang="en-US" b="0" i="0" baseline="-25000" dirty="0" smtClean="0">
                <a:solidFill>
                  <a:srgbClr val="000000"/>
                </a:solidFill>
                <a:effectLst/>
                <a:latin typeface="verdana"/>
              </a:rPr>
              <a:t>1</a:t>
            </a:r>
            <a:r>
              <a:rPr lang="en-US" b="0" i="0" dirty="0" smtClean="0">
                <a:solidFill>
                  <a:srgbClr val="000000"/>
                </a:solidFill>
                <a:effectLst/>
                <a:latin typeface="verdana"/>
              </a:rPr>
              <a:t>=Y</a:t>
            </a:r>
            <a:r>
              <a:rPr lang="en-US" b="0" i="0" baseline="-25000" dirty="0" smtClean="0">
                <a:solidFill>
                  <a:srgbClr val="000000"/>
                </a:solidFill>
                <a:effectLst/>
                <a:latin typeface="verdana"/>
              </a:rPr>
              <a:t>3</a:t>
            </a:r>
            <a:r>
              <a:rPr lang="en-US" b="0" i="0" dirty="0" smtClean="0">
                <a:solidFill>
                  <a:srgbClr val="000000"/>
                </a:solidFill>
                <a:effectLst/>
                <a:latin typeface="verdana"/>
              </a:rPr>
              <a:t>+Y</a:t>
            </a:r>
            <a:r>
              <a:rPr lang="en-US" b="0" i="0" baseline="-25000" dirty="0" smtClean="0">
                <a:solidFill>
                  <a:srgbClr val="000000"/>
                </a:solidFill>
                <a:effectLst/>
                <a:latin typeface="verdana"/>
              </a:rPr>
              <a:t>2</a:t>
            </a:r>
            <a:r>
              <a:rPr lang="en-US" b="0" i="0" dirty="0" smtClean="0">
                <a:solidFill>
                  <a:srgbClr val="000000"/>
                </a:solidFill>
                <a:effectLst/>
                <a:latin typeface="verdana"/>
              </a:rPr>
              <a:t/>
            </a:r>
            <a:br>
              <a:rPr lang="en-US" b="0" i="0" dirty="0" smtClean="0">
                <a:solidFill>
                  <a:srgbClr val="000000"/>
                </a:solidFill>
                <a:effectLst/>
                <a:latin typeface="verdana"/>
              </a:rPr>
            </a:br>
            <a:r>
              <a:rPr lang="en-US" b="0" i="0" dirty="0" smtClean="0">
                <a:solidFill>
                  <a:srgbClr val="000000"/>
                </a:solidFill>
                <a:effectLst/>
                <a:latin typeface="verdana"/>
              </a:rPr>
              <a:t>A</a:t>
            </a:r>
            <a:r>
              <a:rPr lang="en-US" b="0" i="0" baseline="-25000" dirty="0" smtClean="0">
                <a:solidFill>
                  <a:srgbClr val="000000"/>
                </a:solidFill>
                <a:effectLst/>
                <a:latin typeface="verdana"/>
              </a:rPr>
              <a:t>0</a:t>
            </a:r>
            <a:r>
              <a:rPr lang="en-US" b="0" i="0" dirty="0" smtClean="0">
                <a:solidFill>
                  <a:srgbClr val="000000"/>
                </a:solidFill>
                <a:effectLst/>
                <a:latin typeface="verdana"/>
              </a:rPr>
              <a:t>=Y</a:t>
            </a:r>
            <a:r>
              <a:rPr lang="en-US" b="0" i="0" baseline="-25000" dirty="0" smtClean="0">
                <a:solidFill>
                  <a:srgbClr val="000000"/>
                </a:solidFill>
                <a:effectLst/>
                <a:latin typeface="verdana"/>
              </a:rPr>
              <a:t>3</a:t>
            </a:r>
            <a:r>
              <a:rPr lang="en-US" b="0" i="0" dirty="0" smtClean="0">
                <a:solidFill>
                  <a:srgbClr val="000000"/>
                </a:solidFill>
                <a:effectLst/>
                <a:latin typeface="verdana"/>
              </a:rPr>
              <a:t>+Y</a:t>
            </a:r>
            <a:r>
              <a:rPr lang="en-US" b="0" i="0" baseline="-25000" dirty="0" smtClean="0">
                <a:solidFill>
                  <a:srgbClr val="000000"/>
                </a:solidFill>
                <a:effectLst/>
                <a:latin typeface="verdana"/>
              </a:rPr>
              <a:t>1</a:t>
            </a:r>
            <a:endParaRPr lang="en-US" b="0" i="0" dirty="0">
              <a:solidFill>
                <a:srgbClr val="000000"/>
              </a:solidFill>
              <a:effectLst/>
              <a:latin typeface="verdana"/>
            </a:endParaRPr>
          </a:p>
        </p:txBody>
      </p:sp>
    </p:spTree>
    <p:extLst>
      <p:ext uri="{BB962C8B-B14F-4D97-AF65-F5344CB8AC3E}">
        <p14:creationId xmlns:p14="http://schemas.microsoft.com/office/powerpoint/2010/main" val="16006446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836712"/>
            <a:ext cx="8229600" cy="4525963"/>
          </a:xfrm>
        </p:spPr>
        <p:txBody>
          <a:bodyPr>
            <a:normAutofit/>
          </a:bodyPr>
          <a:lstStyle/>
          <a:p>
            <a:r>
              <a:rPr lang="en-US" sz="2800" b="0" i="0" dirty="0" smtClean="0">
                <a:solidFill>
                  <a:srgbClr val="000000"/>
                </a:solidFill>
                <a:effectLst/>
                <a:latin typeface="Arial"/>
              </a:rPr>
              <a:t>Octal to binary Encoder has eight inputs, Y</a:t>
            </a:r>
            <a:r>
              <a:rPr lang="en-US" sz="2800" b="0" i="0" baseline="-25000" dirty="0" smtClean="0">
                <a:solidFill>
                  <a:srgbClr val="000000"/>
                </a:solidFill>
                <a:effectLst/>
                <a:latin typeface="Arial"/>
              </a:rPr>
              <a:t>7</a:t>
            </a:r>
            <a:r>
              <a:rPr lang="en-US" sz="2800" b="0" i="0" dirty="0" smtClean="0">
                <a:solidFill>
                  <a:srgbClr val="000000"/>
                </a:solidFill>
                <a:effectLst/>
                <a:latin typeface="Arial"/>
              </a:rPr>
              <a:t> to Y</a:t>
            </a:r>
            <a:r>
              <a:rPr lang="en-US" sz="2800" b="0" i="0" baseline="-25000" dirty="0" smtClean="0">
                <a:solidFill>
                  <a:srgbClr val="000000"/>
                </a:solidFill>
                <a:effectLst/>
                <a:latin typeface="Arial"/>
              </a:rPr>
              <a:t>0</a:t>
            </a:r>
            <a:r>
              <a:rPr lang="en-US" sz="2800" b="0" i="0" dirty="0" smtClean="0">
                <a:solidFill>
                  <a:srgbClr val="000000"/>
                </a:solidFill>
                <a:effectLst/>
                <a:latin typeface="Arial"/>
              </a:rPr>
              <a:t> and three outputs A</a:t>
            </a:r>
            <a:r>
              <a:rPr lang="en-US" sz="2800" b="0" i="0" baseline="-25000" dirty="0" smtClean="0">
                <a:solidFill>
                  <a:srgbClr val="000000"/>
                </a:solidFill>
                <a:effectLst/>
                <a:latin typeface="Arial"/>
              </a:rPr>
              <a:t>2</a:t>
            </a:r>
            <a:r>
              <a:rPr lang="en-US" sz="2800" b="0" i="0" dirty="0" smtClean="0">
                <a:solidFill>
                  <a:srgbClr val="000000"/>
                </a:solidFill>
                <a:effectLst/>
                <a:latin typeface="Arial"/>
              </a:rPr>
              <a:t>, A</a:t>
            </a:r>
            <a:r>
              <a:rPr lang="en-US" sz="2800" b="0" i="0" baseline="-25000" dirty="0" smtClean="0">
                <a:solidFill>
                  <a:srgbClr val="000000"/>
                </a:solidFill>
                <a:effectLst/>
                <a:latin typeface="Arial"/>
              </a:rPr>
              <a:t>1</a:t>
            </a:r>
            <a:r>
              <a:rPr lang="en-US" sz="2800" b="0" i="0" dirty="0" smtClean="0">
                <a:solidFill>
                  <a:srgbClr val="000000"/>
                </a:solidFill>
                <a:effectLst/>
                <a:latin typeface="Arial"/>
              </a:rPr>
              <a:t> &amp; A</a:t>
            </a:r>
            <a:r>
              <a:rPr lang="en-US" sz="2800" b="0" i="0" baseline="-25000" dirty="0" smtClean="0">
                <a:solidFill>
                  <a:srgbClr val="000000"/>
                </a:solidFill>
                <a:effectLst/>
                <a:latin typeface="Arial"/>
              </a:rPr>
              <a:t>0</a:t>
            </a:r>
            <a:r>
              <a:rPr lang="en-US" sz="2800" b="0" i="0" dirty="0" smtClean="0">
                <a:solidFill>
                  <a:srgbClr val="000000"/>
                </a:solidFill>
                <a:effectLst/>
                <a:latin typeface="Arial"/>
              </a:rPr>
              <a:t>. Octal to binary encoder is nothing but 8 to 3 encoder. The </a:t>
            </a:r>
            <a:r>
              <a:rPr lang="en-US" sz="2800" b="1" i="0" dirty="0" smtClean="0">
                <a:solidFill>
                  <a:srgbClr val="000000"/>
                </a:solidFill>
                <a:effectLst/>
                <a:latin typeface="Arial"/>
              </a:rPr>
              <a:t>block diagram</a:t>
            </a:r>
            <a:r>
              <a:rPr lang="en-US" sz="2800" b="0" i="0" dirty="0" smtClean="0">
                <a:solidFill>
                  <a:srgbClr val="000000"/>
                </a:solidFill>
                <a:effectLst/>
                <a:latin typeface="Arial"/>
              </a:rPr>
              <a:t> of octal to binary Encoder is shown in the following figure.</a:t>
            </a:r>
            <a:endParaRPr lang="en-US" sz="2800" dirty="0"/>
          </a:p>
        </p:txBody>
      </p:sp>
      <p:sp>
        <p:nvSpPr>
          <p:cNvPr id="2" name="Title 1"/>
          <p:cNvSpPr>
            <a:spLocks noGrp="1"/>
          </p:cNvSpPr>
          <p:nvPr>
            <p:ph type="title"/>
          </p:nvPr>
        </p:nvSpPr>
        <p:spPr/>
        <p:txBody>
          <a:bodyPr>
            <a:normAutofit fontScale="90000"/>
          </a:bodyPr>
          <a:lstStyle/>
          <a:p>
            <a:r>
              <a:rPr lang="en-US" dirty="0"/>
              <a:t>Octal to Binary Encoder</a:t>
            </a:r>
            <a:br>
              <a:rPr lang="en-US" dirty="0"/>
            </a:br>
            <a:endParaRPr 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640" y="3429000"/>
            <a:ext cx="5715000" cy="2714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770006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1520" y="1484784"/>
            <a:ext cx="8496944" cy="4752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p:txBody>
          <a:bodyPr>
            <a:normAutofit fontScale="90000"/>
          </a:bodyPr>
          <a:lstStyle/>
          <a:p>
            <a:pPr algn="l"/>
            <a:r>
              <a:rPr lang="en-US" dirty="0"/>
              <a:t>The </a:t>
            </a:r>
            <a:r>
              <a:rPr lang="en-US" b="1" dirty="0"/>
              <a:t>Truth table</a:t>
            </a:r>
            <a:r>
              <a:rPr lang="en-US" dirty="0"/>
              <a:t> of octal to binary encoder is shown below.</a:t>
            </a:r>
          </a:p>
        </p:txBody>
      </p:sp>
    </p:spTree>
    <p:extLst>
      <p:ext uri="{BB962C8B-B14F-4D97-AF65-F5344CB8AC3E}">
        <p14:creationId xmlns:p14="http://schemas.microsoft.com/office/powerpoint/2010/main" val="25561191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1043608" y="2636912"/>
            <a:ext cx="5715000" cy="4048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a:xfrm>
            <a:off x="179512" y="22385"/>
            <a:ext cx="8229600" cy="1143000"/>
          </a:xfrm>
        </p:spPr>
        <p:txBody>
          <a:bodyPr>
            <a:normAutofit/>
          </a:bodyPr>
          <a:lstStyle/>
          <a:p>
            <a:pPr algn="l"/>
            <a:r>
              <a:rPr lang="en-US" sz="2800" b="0" i="0" dirty="0" smtClean="0">
                <a:solidFill>
                  <a:srgbClr val="000000"/>
                </a:solidFill>
                <a:effectLst/>
                <a:latin typeface="Arial"/>
              </a:rPr>
              <a:t>The </a:t>
            </a:r>
            <a:r>
              <a:rPr lang="en-US" sz="2800" b="1" i="0" dirty="0" smtClean="0">
                <a:solidFill>
                  <a:srgbClr val="000000"/>
                </a:solidFill>
                <a:effectLst/>
                <a:latin typeface="Arial"/>
              </a:rPr>
              <a:t>circuit diagram</a:t>
            </a:r>
            <a:r>
              <a:rPr lang="en-US" sz="2800" b="0" i="0" dirty="0" smtClean="0">
                <a:solidFill>
                  <a:srgbClr val="000000"/>
                </a:solidFill>
                <a:effectLst/>
                <a:latin typeface="Arial"/>
              </a:rPr>
              <a:t> of octal to binary encoder is shown in the following figure.</a:t>
            </a:r>
            <a:endParaRPr lang="en-US" sz="2800" dirty="0"/>
          </a:p>
        </p:txBody>
      </p:sp>
      <p:sp>
        <p:nvSpPr>
          <p:cNvPr id="4" name="Rectangle 3"/>
          <p:cNvSpPr/>
          <p:nvPr/>
        </p:nvSpPr>
        <p:spPr>
          <a:xfrm>
            <a:off x="539552" y="1052736"/>
            <a:ext cx="7344816" cy="1477328"/>
          </a:xfrm>
          <a:prstGeom prst="rect">
            <a:avLst/>
          </a:prstGeom>
        </p:spPr>
        <p:txBody>
          <a:bodyPr wrap="square">
            <a:spAutoFit/>
          </a:bodyPr>
          <a:lstStyle/>
          <a:p>
            <a:r>
              <a:rPr lang="en-US" b="0" i="0" dirty="0" smtClean="0">
                <a:solidFill>
                  <a:srgbClr val="000000"/>
                </a:solidFill>
                <a:effectLst/>
                <a:latin typeface="verdana"/>
              </a:rPr>
              <a:t>The logical expression of the term A0, A1, and A2 are as follows:</a:t>
            </a:r>
          </a:p>
          <a:p>
            <a:r>
              <a:rPr lang="en-US" b="0" i="0" dirty="0" smtClean="0">
                <a:solidFill>
                  <a:srgbClr val="000000"/>
                </a:solidFill>
                <a:effectLst/>
                <a:latin typeface="verdana"/>
              </a:rPr>
              <a:t>A</a:t>
            </a:r>
            <a:r>
              <a:rPr lang="en-US" b="0" i="0" baseline="-25000" dirty="0" smtClean="0">
                <a:solidFill>
                  <a:srgbClr val="000000"/>
                </a:solidFill>
                <a:effectLst/>
                <a:latin typeface="verdana"/>
              </a:rPr>
              <a:t>2</a:t>
            </a:r>
            <a:r>
              <a:rPr lang="en-US" b="0" i="0" dirty="0" smtClean="0">
                <a:solidFill>
                  <a:srgbClr val="000000"/>
                </a:solidFill>
                <a:effectLst/>
                <a:latin typeface="verdana"/>
              </a:rPr>
              <a:t>=Y</a:t>
            </a:r>
            <a:r>
              <a:rPr lang="en-US" b="0" i="0" baseline="-25000" dirty="0" smtClean="0">
                <a:solidFill>
                  <a:srgbClr val="000000"/>
                </a:solidFill>
                <a:effectLst/>
                <a:latin typeface="verdana"/>
              </a:rPr>
              <a:t>4</a:t>
            </a:r>
            <a:r>
              <a:rPr lang="en-US" b="0" i="0" dirty="0" smtClean="0">
                <a:solidFill>
                  <a:srgbClr val="000000"/>
                </a:solidFill>
                <a:effectLst/>
                <a:latin typeface="verdana"/>
              </a:rPr>
              <a:t>+Y</a:t>
            </a:r>
            <a:r>
              <a:rPr lang="en-US" b="0" i="0" baseline="-25000" dirty="0" smtClean="0">
                <a:solidFill>
                  <a:srgbClr val="000000"/>
                </a:solidFill>
                <a:effectLst/>
                <a:latin typeface="verdana"/>
              </a:rPr>
              <a:t>5</a:t>
            </a:r>
            <a:r>
              <a:rPr lang="en-US" b="0" i="0" dirty="0" smtClean="0">
                <a:solidFill>
                  <a:srgbClr val="000000"/>
                </a:solidFill>
                <a:effectLst/>
                <a:latin typeface="verdana"/>
              </a:rPr>
              <a:t>+Y</a:t>
            </a:r>
            <a:r>
              <a:rPr lang="en-US" b="0" i="0" baseline="-25000" dirty="0" smtClean="0">
                <a:solidFill>
                  <a:srgbClr val="000000"/>
                </a:solidFill>
                <a:effectLst/>
                <a:latin typeface="verdana"/>
              </a:rPr>
              <a:t>6</a:t>
            </a:r>
            <a:r>
              <a:rPr lang="en-US" b="0" i="0" dirty="0" smtClean="0">
                <a:solidFill>
                  <a:srgbClr val="000000"/>
                </a:solidFill>
                <a:effectLst/>
                <a:latin typeface="verdana"/>
              </a:rPr>
              <a:t>+Y</a:t>
            </a:r>
            <a:r>
              <a:rPr lang="en-US" b="0" i="0" baseline="-25000" dirty="0" smtClean="0">
                <a:solidFill>
                  <a:srgbClr val="000000"/>
                </a:solidFill>
                <a:effectLst/>
                <a:latin typeface="verdana"/>
              </a:rPr>
              <a:t>7</a:t>
            </a:r>
            <a:r>
              <a:rPr lang="en-US" b="0" i="0" dirty="0" smtClean="0">
                <a:solidFill>
                  <a:srgbClr val="000000"/>
                </a:solidFill>
                <a:effectLst/>
                <a:latin typeface="verdana"/>
              </a:rPr>
              <a:t/>
            </a:r>
            <a:br>
              <a:rPr lang="en-US" b="0" i="0" dirty="0" smtClean="0">
                <a:solidFill>
                  <a:srgbClr val="000000"/>
                </a:solidFill>
                <a:effectLst/>
                <a:latin typeface="verdana"/>
              </a:rPr>
            </a:br>
            <a:r>
              <a:rPr lang="en-US" b="0" i="0" dirty="0" smtClean="0">
                <a:solidFill>
                  <a:srgbClr val="000000"/>
                </a:solidFill>
                <a:effectLst/>
                <a:latin typeface="verdana"/>
              </a:rPr>
              <a:t>A</a:t>
            </a:r>
            <a:r>
              <a:rPr lang="en-US" b="0" i="0" baseline="-25000" dirty="0" smtClean="0">
                <a:solidFill>
                  <a:srgbClr val="000000"/>
                </a:solidFill>
                <a:effectLst/>
                <a:latin typeface="verdana"/>
              </a:rPr>
              <a:t>1</a:t>
            </a:r>
            <a:r>
              <a:rPr lang="en-US" b="0" i="0" dirty="0" smtClean="0">
                <a:solidFill>
                  <a:srgbClr val="000000"/>
                </a:solidFill>
                <a:effectLst/>
                <a:latin typeface="verdana"/>
              </a:rPr>
              <a:t>=Y</a:t>
            </a:r>
            <a:r>
              <a:rPr lang="en-US" b="0" i="0" baseline="-25000" dirty="0" smtClean="0">
                <a:solidFill>
                  <a:srgbClr val="000000"/>
                </a:solidFill>
                <a:effectLst/>
                <a:latin typeface="verdana"/>
              </a:rPr>
              <a:t>2</a:t>
            </a:r>
            <a:r>
              <a:rPr lang="en-US" b="0" i="0" dirty="0" smtClean="0">
                <a:solidFill>
                  <a:srgbClr val="000000"/>
                </a:solidFill>
                <a:effectLst/>
                <a:latin typeface="verdana"/>
              </a:rPr>
              <a:t>+Y</a:t>
            </a:r>
            <a:r>
              <a:rPr lang="en-US" b="0" i="0" baseline="-25000" dirty="0" smtClean="0">
                <a:solidFill>
                  <a:srgbClr val="000000"/>
                </a:solidFill>
                <a:effectLst/>
                <a:latin typeface="verdana"/>
              </a:rPr>
              <a:t>3</a:t>
            </a:r>
            <a:r>
              <a:rPr lang="en-US" b="0" i="0" dirty="0" smtClean="0">
                <a:solidFill>
                  <a:srgbClr val="000000"/>
                </a:solidFill>
                <a:effectLst/>
                <a:latin typeface="verdana"/>
              </a:rPr>
              <a:t>+Y</a:t>
            </a:r>
            <a:r>
              <a:rPr lang="en-US" b="0" i="0" baseline="-25000" dirty="0" smtClean="0">
                <a:solidFill>
                  <a:srgbClr val="000000"/>
                </a:solidFill>
                <a:effectLst/>
                <a:latin typeface="verdana"/>
              </a:rPr>
              <a:t>6</a:t>
            </a:r>
            <a:r>
              <a:rPr lang="en-US" b="0" i="0" dirty="0" smtClean="0">
                <a:solidFill>
                  <a:srgbClr val="000000"/>
                </a:solidFill>
                <a:effectLst/>
                <a:latin typeface="verdana"/>
              </a:rPr>
              <a:t>+Y</a:t>
            </a:r>
            <a:r>
              <a:rPr lang="en-US" b="0" i="0" baseline="-25000" dirty="0" smtClean="0">
                <a:solidFill>
                  <a:srgbClr val="000000"/>
                </a:solidFill>
                <a:effectLst/>
                <a:latin typeface="verdana"/>
              </a:rPr>
              <a:t>7</a:t>
            </a:r>
            <a:r>
              <a:rPr lang="en-US" b="0" i="0" dirty="0" smtClean="0">
                <a:solidFill>
                  <a:srgbClr val="000000"/>
                </a:solidFill>
                <a:effectLst/>
                <a:latin typeface="verdana"/>
              </a:rPr>
              <a:t/>
            </a:r>
            <a:br>
              <a:rPr lang="en-US" b="0" i="0" dirty="0" smtClean="0">
                <a:solidFill>
                  <a:srgbClr val="000000"/>
                </a:solidFill>
                <a:effectLst/>
                <a:latin typeface="verdana"/>
              </a:rPr>
            </a:br>
            <a:r>
              <a:rPr lang="en-US" b="0" i="0" dirty="0" smtClean="0">
                <a:solidFill>
                  <a:srgbClr val="000000"/>
                </a:solidFill>
                <a:effectLst/>
                <a:latin typeface="verdana"/>
              </a:rPr>
              <a:t>A</a:t>
            </a:r>
            <a:r>
              <a:rPr lang="en-US" b="0" i="0" baseline="-25000" dirty="0" smtClean="0">
                <a:solidFill>
                  <a:srgbClr val="000000"/>
                </a:solidFill>
                <a:effectLst/>
                <a:latin typeface="verdana"/>
              </a:rPr>
              <a:t>0</a:t>
            </a:r>
            <a:r>
              <a:rPr lang="en-US" b="0" i="0" dirty="0" smtClean="0">
                <a:solidFill>
                  <a:srgbClr val="000000"/>
                </a:solidFill>
                <a:effectLst/>
                <a:latin typeface="verdana"/>
              </a:rPr>
              <a:t>=Y</a:t>
            </a:r>
            <a:r>
              <a:rPr lang="en-US" b="0" i="0" baseline="-25000" dirty="0" smtClean="0">
                <a:solidFill>
                  <a:srgbClr val="000000"/>
                </a:solidFill>
                <a:effectLst/>
                <a:latin typeface="verdana"/>
              </a:rPr>
              <a:t>7</a:t>
            </a:r>
            <a:r>
              <a:rPr lang="en-US" b="0" i="0" dirty="0" smtClean="0">
                <a:solidFill>
                  <a:srgbClr val="000000"/>
                </a:solidFill>
                <a:effectLst/>
                <a:latin typeface="verdana"/>
              </a:rPr>
              <a:t>+Y</a:t>
            </a:r>
            <a:r>
              <a:rPr lang="en-US" b="0" i="0" baseline="-25000" dirty="0" smtClean="0">
                <a:solidFill>
                  <a:srgbClr val="000000"/>
                </a:solidFill>
                <a:effectLst/>
                <a:latin typeface="verdana"/>
              </a:rPr>
              <a:t>5</a:t>
            </a:r>
            <a:r>
              <a:rPr lang="en-US" b="0" i="0" dirty="0" smtClean="0">
                <a:solidFill>
                  <a:srgbClr val="000000"/>
                </a:solidFill>
                <a:effectLst/>
                <a:latin typeface="verdana"/>
              </a:rPr>
              <a:t>+Y</a:t>
            </a:r>
            <a:r>
              <a:rPr lang="en-US" b="0" i="0" baseline="-25000" dirty="0" smtClean="0">
                <a:solidFill>
                  <a:srgbClr val="000000"/>
                </a:solidFill>
                <a:effectLst/>
                <a:latin typeface="verdana"/>
              </a:rPr>
              <a:t>3</a:t>
            </a:r>
            <a:r>
              <a:rPr lang="en-US" b="0" i="0" dirty="0" smtClean="0">
                <a:solidFill>
                  <a:srgbClr val="000000"/>
                </a:solidFill>
                <a:effectLst/>
                <a:latin typeface="verdana"/>
              </a:rPr>
              <a:t>+Y</a:t>
            </a:r>
            <a:r>
              <a:rPr lang="en-US" b="0" i="0" baseline="-25000" dirty="0" smtClean="0">
                <a:solidFill>
                  <a:srgbClr val="000000"/>
                </a:solidFill>
                <a:effectLst/>
                <a:latin typeface="verdana"/>
              </a:rPr>
              <a:t>1</a:t>
            </a:r>
            <a:endParaRPr lang="en-US" b="0" i="0" dirty="0">
              <a:solidFill>
                <a:srgbClr val="000000"/>
              </a:solidFill>
              <a:effectLst/>
              <a:latin typeface="verdana"/>
            </a:endParaRPr>
          </a:p>
        </p:txBody>
      </p:sp>
    </p:spTree>
    <p:extLst>
      <p:ext uri="{BB962C8B-B14F-4D97-AF65-F5344CB8AC3E}">
        <p14:creationId xmlns:p14="http://schemas.microsoft.com/office/powerpoint/2010/main" val="20909600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algn="just">
              <a:buFont typeface="Arial"/>
              <a:buChar char="•"/>
            </a:pPr>
            <a:r>
              <a:rPr lang="en-US" b="0" i="0" dirty="0" smtClean="0">
                <a:solidFill>
                  <a:srgbClr val="000000"/>
                </a:solidFill>
                <a:effectLst/>
                <a:latin typeface="Arial"/>
              </a:rPr>
              <a:t>There is an ambiguity, when all outputs of encoder are equal to zero. Because, it could be the code corresponding to the inputs, when only least significant input is one or when all inputs are zero.</a:t>
            </a:r>
          </a:p>
          <a:p>
            <a:pPr algn="just">
              <a:buFont typeface="Arial"/>
              <a:buChar char="•"/>
            </a:pPr>
            <a:r>
              <a:rPr lang="en-US" b="0" i="0" dirty="0" smtClean="0">
                <a:solidFill>
                  <a:srgbClr val="000000"/>
                </a:solidFill>
                <a:effectLst/>
                <a:latin typeface="Arial"/>
              </a:rPr>
              <a:t>If more than one input is active High, then the encoder produces an output, which may not be the correct code. For </a:t>
            </a:r>
            <a:r>
              <a:rPr lang="en-US" b="1" i="0" dirty="0" smtClean="0">
                <a:solidFill>
                  <a:srgbClr val="000000"/>
                </a:solidFill>
                <a:effectLst/>
                <a:latin typeface="Arial"/>
              </a:rPr>
              <a:t>example</a:t>
            </a:r>
            <a:r>
              <a:rPr lang="en-US" b="0" i="0" dirty="0" smtClean="0">
                <a:solidFill>
                  <a:srgbClr val="000000"/>
                </a:solidFill>
                <a:effectLst/>
                <a:latin typeface="Arial"/>
              </a:rPr>
              <a:t>, if both Y</a:t>
            </a:r>
            <a:r>
              <a:rPr lang="en-US" b="0" i="0" baseline="-25000" dirty="0" smtClean="0">
                <a:solidFill>
                  <a:srgbClr val="000000"/>
                </a:solidFill>
                <a:effectLst/>
                <a:latin typeface="Arial"/>
              </a:rPr>
              <a:t>3</a:t>
            </a:r>
            <a:r>
              <a:rPr lang="en-US" b="0" i="0" dirty="0" smtClean="0">
                <a:solidFill>
                  <a:srgbClr val="000000"/>
                </a:solidFill>
                <a:effectLst/>
                <a:latin typeface="Arial"/>
              </a:rPr>
              <a:t> and Y</a:t>
            </a:r>
            <a:r>
              <a:rPr lang="en-US" b="0" i="0" baseline="-25000" dirty="0" smtClean="0">
                <a:solidFill>
                  <a:srgbClr val="000000"/>
                </a:solidFill>
                <a:effectLst/>
                <a:latin typeface="Arial"/>
              </a:rPr>
              <a:t>6</a:t>
            </a:r>
            <a:r>
              <a:rPr lang="en-US" b="0" i="0" dirty="0" smtClean="0">
                <a:solidFill>
                  <a:srgbClr val="000000"/>
                </a:solidFill>
                <a:effectLst/>
                <a:latin typeface="Arial"/>
              </a:rPr>
              <a:t> are ‘1’, then the encoder produces 111 at the output. This is neither equivalent code corresponding to Y</a:t>
            </a:r>
            <a:r>
              <a:rPr lang="en-US" b="0" i="0" baseline="-25000" dirty="0" smtClean="0">
                <a:solidFill>
                  <a:srgbClr val="000000"/>
                </a:solidFill>
                <a:effectLst/>
                <a:latin typeface="Arial"/>
              </a:rPr>
              <a:t>3</a:t>
            </a:r>
            <a:r>
              <a:rPr lang="en-US" b="0" i="0" dirty="0" smtClean="0">
                <a:solidFill>
                  <a:srgbClr val="000000"/>
                </a:solidFill>
                <a:effectLst/>
                <a:latin typeface="Arial"/>
              </a:rPr>
              <a:t>, when it is ‘1’ nor the equivalent code corresponding to Y</a:t>
            </a:r>
            <a:r>
              <a:rPr lang="en-US" b="0" i="0" baseline="-25000" dirty="0" smtClean="0">
                <a:solidFill>
                  <a:srgbClr val="000000"/>
                </a:solidFill>
                <a:effectLst/>
                <a:latin typeface="Arial"/>
              </a:rPr>
              <a:t>6</a:t>
            </a:r>
            <a:r>
              <a:rPr lang="en-US" b="0" i="0" dirty="0" smtClean="0">
                <a:solidFill>
                  <a:srgbClr val="000000"/>
                </a:solidFill>
                <a:effectLst/>
                <a:latin typeface="Arial"/>
              </a:rPr>
              <a:t>, when it is ‘1’.</a:t>
            </a:r>
          </a:p>
          <a:p>
            <a:endParaRPr lang="en-US" dirty="0"/>
          </a:p>
        </p:txBody>
      </p:sp>
      <p:sp>
        <p:nvSpPr>
          <p:cNvPr id="2" name="Title 1"/>
          <p:cNvSpPr>
            <a:spLocks noGrp="1"/>
          </p:cNvSpPr>
          <p:nvPr>
            <p:ph type="title"/>
          </p:nvPr>
        </p:nvSpPr>
        <p:spPr/>
        <p:txBody>
          <a:bodyPr>
            <a:normAutofit fontScale="90000"/>
          </a:bodyPr>
          <a:lstStyle/>
          <a:p>
            <a:pPr algn="l"/>
            <a:r>
              <a:rPr lang="en-US" dirty="0"/>
              <a:t>Drawbacks of Encoder</a:t>
            </a:r>
            <a:br>
              <a:rPr lang="en-US" dirty="0"/>
            </a:br>
            <a:endParaRPr lang="en-US" dirty="0"/>
          </a:p>
        </p:txBody>
      </p:sp>
    </p:spTree>
    <p:extLst>
      <p:ext uri="{BB962C8B-B14F-4D97-AF65-F5344CB8AC3E}">
        <p14:creationId xmlns:p14="http://schemas.microsoft.com/office/powerpoint/2010/main" val="41936941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endParaRPr lang="en-IN" b="1" dirty="0" smtClean="0">
              <a:solidFill>
                <a:srgbClr val="00B050"/>
              </a:solidFill>
              <a:latin typeface="Algerian" pitchFamily="82" charset="0"/>
            </a:endParaRPr>
          </a:p>
          <a:p>
            <a:pPr marL="0" indent="0">
              <a:buNone/>
            </a:pPr>
            <a:r>
              <a:rPr lang="en-IN" b="1" dirty="0">
                <a:solidFill>
                  <a:srgbClr val="00B050"/>
                </a:solidFill>
                <a:latin typeface="Algerian" pitchFamily="82" charset="0"/>
              </a:rPr>
              <a:t> </a:t>
            </a:r>
            <a:r>
              <a:rPr lang="en-IN" b="1" dirty="0" smtClean="0">
                <a:solidFill>
                  <a:srgbClr val="00B050"/>
                </a:solidFill>
                <a:latin typeface="Algerian" pitchFamily="82" charset="0"/>
              </a:rPr>
              <a:t>              </a:t>
            </a:r>
          </a:p>
          <a:p>
            <a:pPr marL="0" indent="0">
              <a:buNone/>
            </a:pPr>
            <a:r>
              <a:rPr lang="en-IN" b="1" dirty="0">
                <a:solidFill>
                  <a:srgbClr val="00B050"/>
                </a:solidFill>
                <a:latin typeface="Algerian" pitchFamily="82" charset="0"/>
              </a:rPr>
              <a:t> </a:t>
            </a:r>
            <a:r>
              <a:rPr lang="en-IN" b="1" dirty="0" smtClean="0">
                <a:solidFill>
                  <a:srgbClr val="00B050"/>
                </a:solidFill>
                <a:latin typeface="Algerian" pitchFamily="82" charset="0"/>
              </a:rPr>
              <a:t>                THANK YOU</a:t>
            </a:r>
            <a:endParaRPr lang="en-US" b="1" dirty="0">
              <a:solidFill>
                <a:srgbClr val="00B050"/>
              </a:solidFill>
              <a:latin typeface="Algerian" pitchFamily="82" charset="0"/>
            </a:endParaRPr>
          </a:p>
        </p:txBody>
      </p:sp>
      <p:sp>
        <p:nvSpPr>
          <p:cNvPr id="2" name="Title 1"/>
          <p:cNvSpPr>
            <a:spLocks noGrp="1"/>
          </p:cNvSpPr>
          <p:nvPr>
            <p:ph type="title"/>
          </p:nvPr>
        </p:nvSpPr>
        <p:spPr/>
        <p:txBody>
          <a:bodyPr/>
          <a:lstStyle/>
          <a:p>
            <a:endParaRPr lang="en-US"/>
          </a:p>
        </p:txBody>
      </p:sp>
    </p:spTree>
    <p:extLst>
      <p:ext uri="{BB962C8B-B14F-4D97-AF65-F5344CB8AC3E}">
        <p14:creationId xmlns:p14="http://schemas.microsoft.com/office/powerpoint/2010/main" val="55960603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28</TotalTime>
  <Words>168</Words>
  <Application>Microsoft Office PowerPoint</Application>
  <PresentationFormat>On-screen Show (4:3)</PresentationFormat>
  <Paragraphs>22</Paragraphs>
  <Slides>10</Slides>
  <Notes>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Concourse</vt:lpstr>
      <vt:lpstr>ENCODERS</vt:lpstr>
      <vt:lpstr>PowerPoint Presentation</vt:lpstr>
      <vt:lpstr>4 to 2 Encoder </vt:lpstr>
      <vt:lpstr>PowerPoint Presentation</vt:lpstr>
      <vt:lpstr>CIRCUIT DIAGRAM</vt:lpstr>
      <vt:lpstr>Octal to Binary Encoder </vt:lpstr>
      <vt:lpstr>The Truth table of octal to binary encoder is shown below.</vt:lpstr>
      <vt:lpstr>The circuit diagram of octal to binary encoder is shown in the following figure.</vt:lpstr>
      <vt:lpstr>Drawbacks of Encoder </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ENCODERS</dc:title>
  <dc:creator>fahmida</dc:creator>
  <cp:lastModifiedBy>fahmida</cp:lastModifiedBy>
  <cp:revision>11</cp:revision>
  <dcterms:created xsi:type="dcterms:W3CDTF">2020-09-24T05:29:33Z</dcterms:created>
  <dcterms:modified xsi:type="dcterms:W3CDTF">2020-09-24T05:58:14Z</dcterms:modified>
</cp:coreProperties>
</file>