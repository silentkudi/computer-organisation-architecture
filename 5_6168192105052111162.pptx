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7" r:id="rId6"/>
    <p:sldId id="265" r:id="rId7"/>
    <p:sldId id="260" r:id="rId8"/>
    <p:sldId id="262" r:id="rId9"/>
    <p:sldId id="263" r:id="rId10"/>
    <p:sldId id="268" r:id="rId11"/>
    <p:sldId id="264" r:id="rId12"/>
    <p:sldId id="261" r:id="rId13"/>
    <p:sldId id="266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792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F41F370F-A126-4F08-B0A6-0608F7912084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62C16489-508F-4075-B670-2D0A29EF851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41F370F-A126-4F08-B0A6-0608F7912084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C16489-508F-4075-B670-2D0A29EF851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41F370F-A126-4F08-B0A6-0608F7912084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C16489-508F-4075-B670-2D0A29EF851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41F370F-A126-4F08-B0A6-0608F7912084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C16489-508F-4075-B670-2D0A29EF851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41F370F-A126-4F08-B0A6-0608F7912084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C16489-508F-4075-B670-2D0A29EF851B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41F370F-A126-4F08-B0A6-0608F7912084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C16489-508F-4075-B670-2D0A29EF851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41F370F-A126-4F08-B0A6-0608F7912084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C16489-508F-4075-B670-2D0A29EF851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F41F370F-A126-4F08-B0A6-0608F7912084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C16489-508F-4075-B670-2D0A29EF851B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41F370F-A126-4F08-B0A6-0608F7912084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62C16489-508F-4075-B670-2D0A29EF851B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41F370F-A126-4F08-B0A6-0608F7912084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C16489-508F-4075-B670-2D0A29EF851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41F370F-A126-4F08-B0A6-0608F7912084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C16489-508F-4075-B670-2D0A29EF851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F41F370F-A126-4F08-B0A6-0608F7912084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62C16489-508F-4075-B670-2D0A29EF851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Carry Look-Ahead Adder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420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carry look-ahead adder reduces the propagation delay by introducing more complex </a:t>
            </a:r>
            <a:r>
              <a:rPr lang="en-US" dirty="0" smtClean="0"/>
              <a:t>hardware.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88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700808"/>
            <a:ext cx="7128791" cy="4248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Logic diagram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1514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this adder, the carry input at any stage of the adder is independent of the carry bits generated at the independent stages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Here the output of any stage is dependent only on the bits which are added in the previous stages and the carry input provided at the beginning stage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Hence, the circuit at any stage does not have to wait for the generation of carry-bit from the previous stage and carry bit can be evaluated at any instant of time.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482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49392" y="1692637"/>
            <a:ext cx="6645216" cy="41029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28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47812" y="2362994"/>
            <a:ext cx="6048375" cy="2762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585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deriving the truth table of this adder, two new terms are introduced – </a:t>
            </a:r>
            <a:r>
              <a:rPr lang="en-US" b="1" dirty="0">
                <a:solidFill>
                  <a:srgbClr val="FF0000"/>
                </a:solidFill>
              </a:rPr>
              <a:t>Carry generate </a:t>
            </a:r>
            <a:r>
              <a:rPr lang="en-US" dirty="0"/>
              <a:t>and </a:t>
            </a:r>
            <a:r>
              <a:rPr lang="en-US" b="1" dirty="0">
                <a:solidFill>
                  <a:srgbClr val="FF0000"/>
                </a:solidFill>
              </a:rPr>
              <a:t>carry propagate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Carry </a:t>
            </a:r>
            <a:r>
              <a:rPr lang="en-US" dirty="0"/>
              <a:t>generate Gi =1 whenever there is a carry Ci+1 generated. It depends on Ai and Bi inputs. </a:t>
            </a:r>
            <a:endParaRPr lang="en-US" dirty="0" smtClean="0"/>
          </a:p>
          <a:p>
            <a:r>
              <a:rPr lang="en-US" dirty="0" smtClean="0"/>
              <a:t>Gi </a:t>
            </a:r>
            <a:r>
              <a:rPr lang="en-US" dirty="0"/>
              <a:t>is 1 when both Ai and Bi are 1. Hence, Gi is calculated as </a:t>
            </a:r>
            <a:r>
              <a:rPr lang="en-US" dirty="0">
                <a:solidFill>
                  <a:srgbClr val="FF0000"/>
                </a:solidFill>
              </a:rPr>
              <a:t>Gi = Ai. Bi.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Truth Table of Carry Look-ahead Adder</a:t>
            </a:r>
            <a:br>
              <a:rPr lang="en-US" sz="3600" b="1" dirty="0"/>
            </a:b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81263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Carry propagated Pi is associated with the propagation of carry from </a:t>
            </a:r>
            <a:r>
              <a:rPr lang="en-US" dirty="0" err="1"/>
              <a:t>Ci</a:t>
            </a:r>
            <a:r>
              <a:rPr lang="en-US" dirty="0"/>
              <a:t> to Ci+1.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is calculated as </a:t>
            </a:r>
            <a:r>
              <a:rPr lang="en-US" dirty="0">
                <a:solidFill>
                  <a:srgbClr val="FF0000"/>
                </a:solidFill>
              </a:rPr>
              <a:t>Pi = Ai ⊕ Bi. </a:t>
            </a:r>
            <a:endParaRPr lang="en-US" dirty="0" smtClean="0">
              <a:solidFill>
                <a:srgbClr val="FF0000"/>
              </a:solidFill>
            </a:endParaRP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136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Using the Gi and Pi terms the Sum Si and Carry Ci+1 are given as below –</a:t>
            </a:r>
          </a:p>
          <a:p>
            <a:pPr fontAlgn="base"/>
            <a:r>
              <a:rPr lang="en-US" dirty="0"/>
              <a:t>Si = Pi ⊕ Gi.</a:t>
            </a:r>
          </a:p>
          <a:p>
            <a:pPr fontAlgn="base"/>
            <a:r>
              <a:rPr lang="en-US" dirty="0"/>
              <a:t>Ci+1 = </a:t>
            </a:r>
            <a:r>
              <a:rPr lang="en-US" dirty="0" err="1"/>
              <a:t>Ci.Pi</a:t>
            </a:r>
            <a:r>
              <a:rPr lang="en-US" dirty="0"/>
              <a:t> +Gi.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844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C1=(A0.B0)+(A0</a:t>
            </a:r>
            <a:r>
              <a:rPr lang="en-US" dirty="0" smtClean="0"/>
              <a:t>⊕B0</a:t>
            </a:r>
            <a:r>
              <a:rPr lang="en-IN" dirty="0" smtClean="0"/>
              <a:t>).C0</a:t>
            </a:r>
          </a:p>
          <a:p>
            <a:r>
              <a:rPr lang="en-IN" dirty="0" smtClean="0"/>
              <a:t>C2=(A1.B1)+(A1</a:t>
            </a:r>
            <a:r>
              <a:rPr lang="en-US" dirty="0" smtClean="0"/>
              <a:t>⊕B1</a:t>
            </a:r>
            <a:r>
              <a:rPr lang="en-IN" dirty="0" smtClean="0"/>
              <a:t>).C1</a:t>
            </a:r>
            <a:endParaRPr lang="en-US" dirty="0"/>
          </a:p>
          <a:p>
            <a:r>
              <a:rPr lang="en-IN" dirty="0" smtClean="0"/>
              <a:t>C3=(A2.B2)+(A2</a:t>
            </a:r>
            <a:r>
              <a:rPr lang="en-US" dirty="0" smtClean="0"/>
              <a:t>⊕B2</a:t>
            </a:r>
            <a:r>
              <a:rPr lang="en-IN" dirty="0" smtClean="0"/>
              <a:t>).C2</a:t>
            </a:r>
            <a:endParaRPr lang="en-US" dirty="0"/>
          </a:p>
          <a:p>
            <a:r>
              <a:rPr lang="en-IN" dirty="0" smtClean="0"/>
              <a:t>C4=(A3.B3)+(A3</a:t>
            </a:r>
            <a:r>
              <a:rPr lang="en-US" dirty="0" smtClean="0"/>
              <a:t>⊕B3</a:t>
            </a:r>
            <a:r>
              <a:rPr lang="en-IN" dirty="0" smtClean="0"/>
              <a:t>).</a:t>
            </a:r>
            <a:r>
              <a:rPr lang="en-IN" dirty="0" smtClean="0"/>
              <a:t>C3</a:t>
            </a:r>
          </a:p>
          <a:p>
            <a:pPr marL="109728" indent="0">
              <a:buNone/>
            </a:pPr>
            <a:r>
              <a:rPr lang="en-IN" dirty="0" smtClean="0"/>
              <a:t>Using </a:t>
            </a:r>
            <a:r>
              <a:rPr lang="en-US" dirty="0">
                <a:solidFill>
                  <a:srgbClr val="FF0000"/>
                </a:solidFill>
              </a:rPr>
              <a:t>Gi = Ai. Bi</a:t>
            </a:r>
            <a:r>
              <a:rPr lang="en-US" dirty="0" smtClean="0">
                <a:solidFill>
                  <a:srgbClr val="FF0000"/>
                </a:solidFill>
              </a:rPr>
              <a:t>. </a:t>
            </a:r>
            <a:r>
              <a:rPr lang="en-US" dirty="0"/>
              <a:t>a</a:t>
            </a:r>
            <a:r>
              <a:rPr lang="en-US" dirty="0" smtClean="0"/>
              <a:t>nd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Pi = Ai ⊕ Bi. </a:t>
            </a:r>
            <a:endParaRPr lang="en-US" dirty="0" smtClean="0">
              <a:solidFill>
                <a:srgbClr val="FF0000"/>
              </a:solidFill>
            </a:endParaRPr>
          </a:p>
          <a:p>
            <a:pPr marL="109728" indent="0">
              <a:buNone/>
            </a:pPr>
            <a:r>
              <a:rPr lang="en-IN" dirty="0" smtClean="0"/>
              <a:t>C1=G0+P0.C0</a:t>
            </a:r>
          </a:p>
          <a:p>
            <a:pPr marL="109728" indent="0">
              <a:buNone/>
            </a:pPr>
            <a:r>
              <a:rPr lang="en-IN" dirty="0" smtClean="0"/>
              <a:t>C2=G1+P1.C1</a:t>
            </a:r>
          </a:p>
          <a:p>
            <a:pPr marL="109728" indent="0">
              <a:buNone/>
            </a:pPr>
            <a:r>
              <a:rPr lang="en-IN" dirty="0" smtClean="0"/>
              <a:t>C3=G2+P2.C2</a:t>
            </a:r>
            <a:endParaRPr lang="en-IN" dirty="0"/>
          </a:p>
          <a:p>
            <a:pPr marL="109728" indent="0">
              <a:buNone/>
            </a:pPr>
            <a:r>
              <a:rPr lang="en-IN" dirty="0" smtClean="0"/>
              <a:t>C4=G3+P3.C3</a:t>
            </a:r>
            <a:endParaRPr lang="en-IN" dirty="0"/>
          </a:p>
          <a:p>
            <a:pPr marL="109728" indent="0">
              <a:buNone/>
            </a:pPr>
            <a:endParaRPr lang="en-IN" dirty="0" smtClean="0">
              <a:solidFill>
                <a:srgbClr val="FF0000"/>
              </a:solidFill>
            </a:endParaRPr>
          </a:p>
          <a:p>
            <a:pPr marL="109728" indent="0">
              <a:buNone/>
            </a:pPr>
            <a:endParaRPr lang="en-IN" dirty="0">
              <a:solidFill>
                <a:srgbClr val="FF0000"/>
              </a:solidFill>
            </a:endParaRPr>
          </a:p>
          <a:p>
            <a:pPr marL="109728" indent="0">
              <a:buNone/>
            </a:pPr>
            <a:endParaRPr lang="en-US" dirty="0"/>
          </a:p>
          <a:p>
            <a:endParaRPr lang="en-US" dirty="0"/>
          </a:p>
          <a:p>
            <a:endParaRPr lang="en-IN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861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332656"/>
            <a:ext cx="8229600" cy="5376672"/>
          </a:xfrm>
        </p:spPr>
        <p:txBody>
          <a:bodyPr>
            <a:normAutofit lnSpcReduction="10000"/>
          </a:bodyPr>
          <a:lstStyle/>
          <a:p>
            <a:pPr fontAlgn="base"/>
            <a:r>
              <a:rPr lang="en-US" dirty="0"/>
              <a:t>Therefore, the carry bits C1, C2, C3, and C4 can be calculated as</a:t>
            </a:r>
          </a:p>
          <a:p>
            <a:pPr fontAlgn="base"/>
            <a:r>
              <a:rPr lang="en-US" dirty="0"/>
              <a:t>C1 </a:t>
            </a:r>
            <a:r>
              <a:rPr lang="en-US" dirty="0" smtClean="0"/>
              <a:t>=G0+ P0.C0.</a:t>
            </a:r>
            <a:endParaRPr lang="en-US" dirty="0"/>
          </a:p>
          <a:p>
            <a:pPr fontAlgn="base"/>
            <a:r>
              <a:rPr lang="en-US" dirty="0"/>
              <a:t>C2 = </a:t>
            </a:r>
            <a:r>
              <a:rPr lang="en-US" dirty="0" smtClean="0"/>
              <a:t>G1+P1.C1</a:t>
            </a:r>
          </a:p>
          <a:p>
            <a:pPr marL="109728" indent="0" fontAlgn="base">
              <a:buNone/>
            </a:pPr>
            <a:r>
              <a:rPr lang="en-US" dirty="0"/>
              <a:t> </a:t>
            </a:r>
            <a:r>
              <a:rPr lang="en-US" dirty="0" smtClean="0"/>
              <a:t>       </a:t>
            </a:r>
            <a:r>
              <a:rPr lang="en-US" dirty="0" smtClean="0"/>
              <a:t>=</a:t>
            </a:r>
            <a:r>
              <a:rPr lang="en-US" dirty="0" smtClean="0"/>
              <a:t>G1 +P1</a:t>
            </a:r>
            <a:r>
              <a:rPr lang="en-US" dirty="0"/>
              <a:t>.(G0+ P0.C0)</a:t>
            </a:r>
            <a:endParaRPr lang="en-US" dirty="0"/>
          </a:p>
          <a:p>
            <a:pPr fontAlgn="base"/>
            <a:r>
              <a:rPr lang="en-US" dirty="0"/>
              <a:t>C3 </a:t>
            </a:r>
            <a:r>
              <a:rPr lang="en-US" dirty="0" smtClean="0"/>
              <a:t>=G2+ P2.C2</a:t>
            </a:r>
          </a:p>
          <a:p>
            <a:pPr marL="109728" indent="0" fontAlgn="base">
              <a:buNone/>
            </a:pPr>
            <a:r>
              <a:rPr lang="en-US" dirty="0"/>
              <a:t> </a:t>
            </a:r>
            <a:r>
              <a:rPr lang="en-US" dirty="0" smtClean="0"/>
              <a:t>     </a:t>
            </a:r>
            <a:r>
              <a:rPr lang="en-US" dirty="0" smtClean="0"/>
              <a:t> </a:t>
            </a:r>
            <a:r>
              <a:rPr lang="en-US" dirty="0" smtClean="0"/>
              <a:t>=G2+P2. </a:t>
            </a:r>
            <a:r>
              <a:rPr lang="en-US" dirty="0"/>
              <a:t>(</a:t>
            </a:r>
            <a:r>
              <a:rPr lang="en-US" dirty="0" smtClean="0"/>
              <a:t>G1+P1.C1</a:t>
            </a:r>
            <a:r>
              <a:rPr lang="en-US" dirty="0" smtClean="0"/>
              <a:t>)</a:t>
            </a:r>
            <a:r>
              <a:rPr lang="en-IN" dirty="0" smtClean="0"/>
              <a:t>              	=</a:t>
            </a:r>
            <a:r>
              <a:rPr lang="en-IN" dirty="0" smtClean="0"/>
              <a:t>G2+P2(G1+P1</a:t>
            </a:r>
            <a:r>
              <a:rPr lang="en-IN" dirty="0" smtClean="0"/>
              <a:t>.(G0+P0.C0))</a:t>
            </a:r>
            <a:endParaRPr lang="en-US" dirty="0" smtClean="0"/>
          </a:p>
          <a:p>
            <a:pPr fontAlgn="base"/>
            <a:r>
              <a:rPr lang="en-US" dirty="0" smtClean="0"/>
              <a:t>C4 = </a:t>
            </a:r>
            <a:r>
              <a:rPr lang="en-US" dirty="0"/>
              <a:t>G3 </a:t>
            </a:r>
            <a:r>
              <a:rPr lang="en-US" dirty="0" smtClean="0"/>
              <a:t>+P3.C3.</a:t>
            </a:r>
          </a:p>
          <a:p>
            <a:pPr marL="109728" indent="0" fontAlgn="base">
              <a:buNone/>
            </a:pPr>
            <a:r>
              <a:rPr lang="en-US" dirty="0"/>
              <a:t> </a:t>
            </a:r>
            <a:r>
              <a:rPr lang="en-US" dirty="0" smtClean="0"/>
              <a:t>       =G3+ P3.(</a:t>
            </a:r>
            <a:r>
              <a:rPr lang="en-US" dirty="0"/>
              <a:t>G2+ P2.C2</a:t>
            </a:r>
            <a:r>
              <a:rPr lang="en-US" dirty="0" smtClean="0"/>
              <a:t>)</a:t>
            </a:r>
          </a:p>
          <a:p>
            <a:pPr marL="109728" indent="0" fontAlgn="base">
              <a:buNone/>
            </a:pPr>
            <a:r>
              <a:rPr lang="en-IN" dirty="0" smtClean="0"/>
              <a:t>	=G3+P3.(G2+P2.(</a:t>
            </a:r>
            <a:r>
              <a:rPr lang="en-US" dirty="0" smtClean="0"/>
              <a:t>G1+P1.C1</a:t>
            </a:r>
            <a:r>
              <a:rPr lang="en-IN" dirty="0" smtClean="0"/>
              <a:t>))</a:t>
            </a:r>
          </a:p>
          <a:p>
            <a:pPr marL="109728" indent="0" fontAlgn="base">
              <a:buNone/>
            </a:pPr>
            <a:r>
              <a:rPr lang="en-IN" dirty="0"/>
              <a:t>	</a:t>
            </a:r>
            <a:r>
              <a:rPr lang="en-IN" dirty="0" smtClean="0"/>
              <a:t>=G3+P3.(G2+P2.(G1+P1(</a:t>
            </a:r>
            <a:r>
              <a:rPr lang="en-US" dirty="0"/>
              <a:t>G0+ P0.C0</a:t>
            </a:r>
            <a:r>
              <a:rPr lang="en-IN" dirty="0" smtClean="0"/>
              <a:t>)))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29167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00250" y="1805781"/>
            <a:ext cx="5143500" cy="3876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273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 smtClean="0">
                <a:latin typeface="Algerian" pitchFamily="82" charset="0"/>
              </a:rPr>
              <a:t>             THANK YOU</a:t>
            </a:r>
            <a:endParaRPr lang="en-US" b="1" dirty="0">
              <a:latin typeface="Algerian" pitchFamily="8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0274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101</TotalTime>
  <Words>338</Words>
  <Application>Microsoft Office PowerPoint</Application>
  <PresentationFormat>On-screen Show (4:3)</PresentationFormat>
  <Paragraphs>40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Concourse</vt:lpstr>
      <vt:lpstr>Carry Look-Ahead Adder </vt:lpstr>
      <vt:lpstr>PowerPoint Presentation</vt:lpstr>
      <vt:lpstr>Logic diagram</vt:lpstr>
      <vt:lpstr>PowerPoint Presentation</vt:lpstr>
      <vt:lpstr>PowerPoint Presentation</vt:lpstr>
      <vt:lpstr>PowerPoint Presentation</vt:lpstr>
      <vt:lpstr>Truth Table of Carry Look-ahead Adder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Carry Look-Ahead Adder </dc:title>
  <dc:creator>fahmida</dc:creator>
  <cp:lastModifiedBy>fahmida</cp:lastModifiedBy>
  <cp:revision>17</cp:revision>
  <dcterms:created xsi:type="dcterms:W3CDTF">2020-09-17T04:32:09Z</dcterms:created>
  <dcterms:modified xsi:type="dcterms:W3CDTF">2020-09-23T05:19:53Z</dcterms:modified>
</cp:coreProperties>
</file>