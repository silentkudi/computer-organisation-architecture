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95EA7941-1A6E-4CE2-9E04-231BAF826685}" type="datetimeFigureOut">
              <a:rPr lang="en-US" smtClean="0"/>
              <a:t>9/13/2020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9C1ADC2-14D1-48D3-8963-E5502A5F8822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753616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0070C0"/>
                </a:solidFill>
              </a:rPr>
              <a:t>Department of computer science</a:t>
            </a:r>
            <a:br>
              <a:rPr lang="en-IN" dirty="0">
                <a:solidFill>
                  <a:srgbClr val="0070C0"/>
                </a:solidFill>
              </a:rPr>
            </a:br>
            <a:r>
              <a:rPr lang="en-IN" dirty="0">
                <a:solidFill>
                  <a:srgbClr val="0070C0"/>
                </a:solidFill>
              </a:rPr>
              <a:t>AVAH Arts and Science college, </a:t>
            </a:r>
            <a:r>
              <a:rPr lang="en-IN" dirty="0" err="1">
                <a:solidFill>
                  <a:srgbClr val="0070C0"/>
                </a:solidFill>
              </a:rPr>
              <a:t>kulupa</a:t>
            </a:r>
            <a:r>
              <a:rPr lang="en-US" dirty="0">
                <a:solidFill>
                  <a:srgbClr val="0070C0"/>
                </a:solidFill>
              </a:rPr>
              <a:t/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RIPPLE CARRY ADDER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216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Ripple Carry Adder is a combinational logic circuit.</a:t>
            </a:r>
          </a:p>
          <a:p>
            <a:pPr fontAlgn="base"/>
            <a:r>
              <a:rPr lang="en-US" dirty="0"/>
              <a:t>It is used for the purpose of adding two n-bit binary numbers.</a:t>
            </a:r>
          </a:p>
          <a:p>
            <a:pPr fontAlgn="base"/>
            <a:r>
              <a:rPr lang="en-US" dirty="0"/>
              <a:t>It requires n full adders in its circuit for adding two n-bit binary numbers.</a:t>
            </a:r>
          </a:p>
          <a:p>
            <a:pPr fontAlgn="base"/>
            <a:r>
              <a:rPr lang="en-US" dirty="0"/>
              <a:t>It is also known as </a:t>
            </a:r>
            <a:r>
              <a:rPr lang="en-US" b="1" dirty="0"/>
              <a:t>n-bit parallel adder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63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0" i="0" dirty="0" smtClean="0">
                <a:solidFill>
                  <a:srgbClr val="303030"/>
                </a:solidFill>
                <a:effectLst/>
                <a:latin typeface="IBM Plex Sans"/>
              </a:rPr>
              <a:t> A ripple carry adder is a logic circuit in which the carry-out of each full adder is the carry in of the succeeding next most significant full adder. </a:t>
            </a:r>
          </a:p>
          <a:p>
            <a:r>
              <a:rPr lang="en-US" b="0" i="0" dirty="0" smtClean="0">
                <a:solidFill>
                  <a:srgbClr val="303030"/>
                </a:solidFill>
                <a:effectLst/>
                <a:latin typeface="IBM Plex Sans"/>
              </a:rPr>
              <a:t>It is called a ripple carry adder because each carry bit gets rippled into the next  stage.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615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068960"/>
            <a:ext cx="3933825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9552" y="1484784"/>
            <a:ext cx="8604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Mathematics, any two 4-bit binary numbers A</a:t>
            </a:r>
            <a:r>
              <a:rPr lang="en-US" sz="2400" baseline="-25000" dirty="0"/>
              <a:t>3</a:t>
            </a:r>
            <a:r>
              <a:rPr lang="en-US" sz="2400" dirty="0"/>
              <a:t>A</a:t>
            </a:r>
            <a:r>
              <a:rPr lang="en-US" sz="2400" baseline="-25000" dirty="0"/>
              <a:t>2</a:t>
            </a:r>
            <a:r>
              <a:rPr lang="en-US" sz="2400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A</a:t>
            </a:r>
            <a:r>
              <a:rPr lang="en-US" sz="2400" baseline="-25000" dirty="0"/>
              <a:t>0</a:t>
            </a:r>
            <a:r>
              <a:rPr lang="en-US" sz="2400" dirty="0"/>
              <a:t> and B</a:t>
            </a:r>
            <a:r>
              <a:rPr lang="en-US" sz="2400" baseline="-25000" dirty="0"/>
              <a:t>3</a:t>
            </a:r>
            <a:r>
              <a:rPr lang="en-US" sz="2400" dirty="0"/>
              <a:t>B</a:t>
            </a:r>
            <a:r>
              <a:rPr lang="en-US" sz="2400" baseline="-25000" dirty="0"/>
              <a:t>2</a:t>
            </a:r>
            <a:r>
              <a:rPr lang="en-US" sz="2400" dirty="0"/>
              <a:t>B</a:t>
            </a:r>
            <a:r>
              <a:rPr lang="en-US" sz="2400" baseline="-25000" dirty="0"/>
              <a:t>1</a:t>
            </a:r>
            <a:r>
              <a:rPr lang="en-US" sz="2400" dirty="0"/>
              <a:t>B</a:t>
            </a:r>
            <a:r>
              <a:rPr lang="en-US" sz="2400" baseline="-25000" dirty="0"/>
              <a:t>0</a:t>
            </a:r>
            <a:r>
              <a:rPr lang="en-US" sz="2400" dirty="0"/>
              <a:t> are added as shown below-</a:t>
            </a:r>
          </a:p>
        </p:txBody>
      </p:sp>
    </p:spTree>
    <p:extLst>
      <p:ext uri="{BB962C8B-B14F-4D97-AF65-F5344CB8AC3E}">
        <p14:creationId xmlns:p14="http://schemas.microsoft.com/office/powerpoint/2010/main" val="2966806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636912"/>
            <a:ext cx="7111503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7544" y="1556792"/>
            <a:ext cx="8208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Using ripple carry adder, this addition is carried out as shown by the following logic diagram-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31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>
              <a:buFont typeface="Arial"/>
              <a:buChar char="•"/>
            </a:pP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The two 4-bit numbers are 0101 (A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3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A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A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A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) and 1010 (B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3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B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B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B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).</a:t>
            </a:r>
          </a:p>
          <a:p>
            <a:pPr fontAlgn="base">
              <a:buFont typeface="Arial"/>
              <a:buChar char="•"/>
            </a:pP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These numbers are to be added using a 4-bit ripple carry adder.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107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476672"/>
            <a:ext cx="8229600" cy="6120680"/>
          </a:xfrm>
        </p:spPr>
        <p:txBody>
          <a:bodyPr>
            <a:normAutofit fontScale="85000" lnSpcReduction="20000"/>
          </a:bodyPr>
          <a:lstStyle/>
          <a:p>
            <a:r>
              <a:rPr lang="en-US" sz="4000" b="0" i="0" dirty="0" smtClean="0">
                <a:solidFill>
                  <a:srgbClr val="303030"/>
                </a:solidFill>
                <a:effectLst/>
                <a:latin typeface="Arimo"/>
              </a:rPr>
              <a:t>4-bit Ripple Carry Adder carries out the addition as explained in the following stages-</a:t>
            </a:r>
          </a:p>
          <a:p>
            <a:pPr marL="514350" indent="-514350" fontAlgn="base">
              <a:buFont typeface="+mj-lt"/>
              <a:buAutoNum type="arabicPeriod"/>
            </a:pPr>
            <a:endParaRPr lang="en-US" sz="4000" b="1" u="sng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sz="4000" b="1" u="sng" dirty="0" smtClean="0"/>
              <a:t>Stage-01</a:t>
            </a:r>
            <a:r>
              <a:rPr lang="en-US" sz="4000" b="1" u="sng" dirty="0"/>
              <a:t>:</a:t>
            </a:r>
            <a:endParaRPr lang="en-US" sz="4000" b="1" dirty="0"/>
          </a:p>
          <a:p>
            <a:pPr marL="0" indent="0" fontAlgn="base">
              <a:buNone/>
            </a:pPr>
            <a:r>
              <a:rPr lang="en-US" sz="4000" dirty="0"/>
              <a:t> </a:t>
            </a:r>
          </a:p>
          <a:p>
            <a:pPr fontAlgn="base"/>
            <a:r>
              <a:rPr lang="en-US" sz="4000" dirty="0"/>
              <a:t>When </a:t>
            </a:r>
            <a:r>
              <a:rPr lang="en-US" sz="4000" dirty="0" err="1"/>
              <a:t>C</a:t>
            </a:r>
            <a:r>
              <a:rPr lang="en-US" sz="4000" baseline="-25000" dirty="0" err="1"/>
              <a:t>in</a:t>
            </a:r>
            <a:r>
              <a:rPr lang="en-US" sz="4000" dirty="0"/>
              <a:t> is fed as input to the full Adder A, it activates the full adder A.</a:t>
            </a:r>
          </a:p>
          <a:p>
            <a:pPr fontAlgn="base"/>
            <a:r>
              <a:rPr lang="en-US" sz="4000" dirty="0"/>
              <a:t>Then at full adder A, A</a:t>
            </a:r>
            <a:r>
              <a:rPr lang="en-US" sz="4000" baseline="-25000" dirty="0"/>
              <a:t>0</a:t>
            </a:r>
            <a:r>
              <a:rPr lang="en-US" sz="4000" dirty="0"/>
              <a:t> = 1, B</a:t>
            </a:r>
            <a:r>
              <a:rPr lang="en-US" sz="4000" baseline="-25000" dirty="0"/>
              <a:t>0</a:t>
            </a:r>
            <a:r>
              <a:rPr lang="en-US" sz="4000" dirty="0"/>
              <a:t> = 0, </a:t>
            </a:r>
            <a:r>
              <a:rPr lang="en-US" sz="4000" dirty="0" err="1"/>
              <a:t>C</a:t>
            </a:r>
            <a:r>
              <a:rPr lang="en-US" sz="4000" baseline="-25000" dirty="0" err="1"/>
              <a:t>in</a:t>
            </a:r>
            <a:r>
              <a:rPr lang="en-US" sz="4000" dirty="0"/>
              <a:t> = 0</a:t>
            </a:r>
            <a:r>
              <a:rPr lang="en-US" sz="4000" dirty="0" smtClean="0"/>
              <a:t>.</a:t>
            </a:r>
            <a:endParaRPr lang="en-US" sz="4000" dirty="0"/>
          </a:p>
          <a:p>
            <a:pPr fontAlgn="base"/>
            <a:r>
              <a:rPr lang="en-US" sz="4000" dirty="0"/>
              <a:t>Full adder A computes the sum bit and carry bit as-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23097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b="1" u="sng" dirty="0"/>
              <a:t>Calculation of S</a:t>
            </a:r>
            <a:r>
              <a:rPr lang="en-US" b="1" u="sng" baseline="-25000" dirty="0"/>
              <a:t>0</a:t>
            </a:r>
            <a:r>
              <a:rPr lang="en-US" b="1" u="sng" dirty="0"/>
              <a:t>–</a:t>
            </a:r>
            <a:endParaRPr lang="en-US" sz="2800" dirty="0"/>
          </a:p>
          <a:p>
            <a:pPr marL="0" indent="0" fontAlgn="base">
              <a:buNone/>
            </a:pPr>
            <a:r>
              <a:rPr lang="en-US" sz="2800" dirty="0"/>
              <a:t>S</a:t>
            </a:r>
            <a:r>
              <a:rPr lang="en-US" sz="2800" baseline="-25000" dirty="0"/>
              <a:t>0</a:t>
            </a:r>
            <a:r>
              <a:rPr lang="en-US" sz="2800" dirty="0"/>
              <a:t> = A</a:t>
            </a:r>
            <a:r>
              <a:rPr lang="en-US" sz="2800" baseline="-25000" dirty="0"/>
              <a:t>0</a:t>
            </a:r>
            <a:r>
              <a:rPr lang="en-US" sz="2800" dirty="0"/>
              <a:t> ⊕  B</a:t>
            </a:r>
            <a:r>
              <a:rPr lang="en-US" sz="2800" baseline="-25000" dirty="0"/>
              <a:t>0</a:t>
            </a:r>
            <a:r>
              <a:rPr lang="en-US" sz="2800" dirty="0"/>
              <a:t> ⊕ </a:t>
            </a:r>
            <a:r>
              <a:rPr lang="en-US" sz="2800" dirty="0" err="1"/>
              <a:t>C</a:t>
            </a:r>
            <a:r>
              <a:rPr lang="en-US" sz="2800" baseline="-25000" dirty="0" err="1"/>
              <a:t>in</a:t>
            </a:r>
            <a:endParaRPr lang="en-US" sz="2800" dirty="0"/>
          </a:p>
          <a:p>
            <a:pPr marL="0" indent="0" fontAlgn="base">
              <a:buNone/>
            </a:pPr>
            <a:r>
              <a:rPr lang="en-US" sz="2800" dirty="0"/>
              <a:t>S</a:t>
            </a:r>
            <a:r>
              <a:rPr lang="en-US" sz="2800" baseline="-25000" dirty="0"/>
              <a:t>0 </a:t>
            </a:r>
            <a:r>
              <a:rPr lang="en-US" sz="2800" dirty="0"/>
              <a:t>= 1 ⊕ 0 ⊕ 0</a:t>
            </a:r>
          </a:p>
          <a:p>
            <a:pPr marL="0" indent="0">
              <a:buNone/>
            </a:pPr>
            <a:r>
              <a:rPr lang="en-US" sz="2800" dirty="0"/>
              <a:t>S</a:t>
            </a:r>
            <a:r>
              <a:rPr lang="en-US" sz="2800" baseline="-25000" dirty="0"/>
              <a:t>0 </a:t>
            </a:r>
            <a:r>
              <a:rPr lang="en-US" sz="2800" dirty="0"/>
              <a:t>= 1</a:t>
            </a:r>
          </a:p>
          <a:p>
            <a:pPr marL="0" indent="0" fontAlgn="base">
              <a:buNone/>
            </a:pPr>
            <a:endParaRPr lang="en-US" b="1" i="0" u="sng" dirty="0" smtClean="0">
              <a:solidFill>
                <a:srgbClr val="303030"/>
              </a:solidFill>
              <a:effectLst/>
              <a:latin typeface="Roboto Condensed"/>
            </a:endParaRPr>
          </a:p>
          <a:p>
            <a:pPr fontAlgn="base"/>
            <a:r>
              <a:rPr lang="en-US" b="1" i="0" u="sng" dirty="0" smtClean="0">
                <a:solidFill>
                  <a:srgbClr val="303030"/>
                </a:solidFill>
                <a:effectLst/>
                <a:latin typeface="Roboto Condensed"/>
              </a:rPr>
              <a:t>Calculation of C</a:t>
            </a:r>
            <a:r>
              <a:rPr lang="en-US" b="1" i="0" u="sng" baseline="-25000" dirty="0" smtClean="0">
                <a:solidFill>
                  <a:srgbClr val="303030"/>
                </a:solidFill>
                <a:effectLst/>
                <a:latin typeface="Roboto Condensed"/>
              </a:rPr>
              <a:t>0</a:t>
            </a:r>
            <a:r>
              <a:rPr lang="en-US" b="1" i="0" u="sng" dirty="0" smtClean="0">
                <a:solidFill>
                  <a:srgbClr val="303030"/>
                </a:solidFill>
                <a:effectLst/>
                <a:latin typeface="Roboto Condensed"/>
              </a:rPr>
              <a:t>–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C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 = A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B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 ⊕  B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C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in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 ⊕ C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in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A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0</a:t>
            </a:r>
            <a:endParaRPr lang="en-US" b="0" i="0" dirty="0" smtClean="0">
              <a:solidFill>
                <a:srgbClr val="303030"/>
              </a:solidFill>
              <a:effectLst/>
              <a:latin typeface="Arimo"/>
            </a:endParaRP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C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 = 1.0 ⊕ 0.0 ⊕ 0.1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C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 = 0 ⊕ 0 ⊕ 0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C</a:t>
            </a:r>
            <a:r>
              <a:rPr lang="en-US" b="0" i="0" baseline="-25000" dirty="0" smtClean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 smtClean="0">
                <a:solidFill>
                  <a:srgbClr val="303030"/>
                </a:solidFill>
                <a:effectLst/>
                <a:latin typeface="Arimo"/>
              </a:rPr>
              <a:t> = 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62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6632"/>
            <a:ext cx="8229600" cy="6741368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u="sng" dirty="0"/>
              <a:t>Stage-02</a:t>
            </a:r>
            <a:r>
              <a:rPr lang="en-US" b="1" u="sng" dirty="0" smtClean="0"/>
              <a:t>:</a:t>
            </a:r>
            <a:r>
              <a:rPr lang="en-US" dirty="0"/>
              <a:t> </a:t>
            </a:r>
            <a:endParaRPr lang="en-US" dirty="0" smtClean="0"/>
          </a:p>
          <a:p>
            <a:pPr fontAlgn="base"/>
            <a:endParaRPr lang="en-IN" dirty="0"/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When C</a:t>
            </a:r>
            <a:r>
              <a:rPr lang="en-US" baseline="-25000" dirty="0"/>
              <a:t>0</a:t>
            </a:r>
            <a:r>
              <a:rPr lang="en-US" dirty="0"/>
              <a:t> is fed as input to the full adder B, it activates the full adder B.</a:t>
            </a:r>
          </a:p>
          <a:p>
            <a:pPr fontAlgn="base"/>
            <a:r>
              <a:rPr lang="en-US" dirty="0"/>
              <a:t>Then at full adder B, A</a:t>
            </a:r>
            <a:r>
              <a:rPr lang="en-US" baseline="-25000" dirty="0"/>
              <a:t>1</a:t>
            </a:r>
            <a:r>
              <a:rPr lang="en-US" dirty="0"/>
              <a:t> = 0, B</a:t>
            </a:r>
            <a:r>
              <a:rPr lang="en-US" baseline="-25000" dirty="0"/>
              <a:t>1</a:t>
            </a:r>
            <a:r>
              <a:rPr lang="en-US" dirty="0"/>
              <a:t> = 1, C</a:t>
            </a:r>
            <a:r>
              <a:rPr lang="en-US" baseline="-25000" dirty="0"/>
              <a:t>0</a:t>
            </a:r>
            <a:r>
              <a:rPr lang="en-US" dirty="0"/>
              <a:t> = 0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Full adder B computes the sum bit and carry bit </a:t>
            </a:r>
            <a:r>
              <a:rPr lang="en-US" dirty="0" smtClean="0"/>
              <a:t>as-</a:t>
            </a:r>
            <a:endParaRPr lang="en-US" dirty="0"/>
          </a:p>
          <a:p>
            <a:pPr fontAlgn="base"/>
            <a:r>
              <a:rPr lang="en-US" b="1" u="sng" dirty="0"/>
              <a:t>Calculation of S</a:t>
            </a:r>
            <a:r>
              <a:rPr lang="en-US" b="1" u="sng" baseline="-25000" dirty="0"/>
              <a:t>1</a:t>
            </a:r>
            <a:r>
              <a:rPr lang="en-US" b="1" u="sng" dirty="0" smtClean="0"/>
              <a:t>–</a:t>
            </a:r>
            <a:r>
              <a:rPr lang="en-US" dirty="0"/>
              <a:t> </a:t>
            </a:r>
          </a:p>
          <a:p>
            <a:pPr marL="400050" lvl="1" indent="0" fontAlgn="base">
              <a:buNone/>
            </a:pPr>
            <a:r>
              <a:rPr lang="en-US" dirty="0"/>
              <a:t>S</a:t>
            </a:r>
            <a:r>
              <a:rPr lang="en-US" baseline="-25000" dirty="0"/>
              <a:t>1</a:t>
            </a:r>
            <a:r>
              <a:rPr lang="en-US" dirty="0"/>
              <a:t> = A</a:t>
            </a:r>
            <a:r>
              <a:rPr lang="en-US" baseline="-25000" dirty="0"/>
              <a:t>1</a:t>
            </a:r>
            <a:r>
              <a:rPr lang="en-US" dirty="0"/>
              <a:t> ⊕  B</a:t>
            </a:r>
            <a:r>
              <a:rPr lang="en-US" baseline="-25000" dirty="0"/>
              <a:t>1</a:t>
            </a:r>
            <a:r>
              <a:rPr lang="en-US" dirty="0"/>
              <a:t> ⊕ C</a:t>
            </a:r>
            <a:r>
              <a:rPr lang="en-US" baseline="-25000" dirty="0"/>
              <a:t>0</a:t>
            </a:r>
            <a:endParaRPr lang="en-US" dirty="0"/>
          </a:p>
          <a:p>
            <a:pPr marL="400050" lvl="1" indent="0" fontAlgn="base">
              <a:buNone/>
            </a:pPr>
            <a:r>
              <a:rPr lang="en-US" dirty="0"/>
              <a:t>S</a:t>
            </a:r>
            <a:r>
              <a:rPr lang="en-US" baseline="-25000" dirty="0"/>
              <a:t>1 </a:t>
            </a:r>
            <a:r>
              <a:rPr lang="en-US" dirty="0"/>
              <a:t>= 0 ⊕ 1 ⊕ 0</a:t>
            </a:r>
          </a:p>
          <a:p>
            <a:pPr marL="400050" lvl="1" indent="0" fontAlgn="base">
              <a:buNone/>
            </a:pPr>
            <a:r>
              <a:rPr lang="en-US" dirty="0"/>
              <a:t>S</a:t>
            </a:r>
            <a:r>
              <a:rPr lang="en-US" baseline="-25000" dirty="0"/>
              <a:t>1 </a:t>
            </a:r>
            <a:r>
              <a:rPr lang="en-US" dirty="0"/>
              <a:t>= </a:t>
            </a:r>
            <a:r>
              <a:rPr lang="en-US" dirty="0" smtClean="0"/>
              <a:t>1</a:t>
            </a:r>
            <a:r>
              <a:rPr lang="en-US" dirty="0"/>
              <a:t> </a:t>
            </a:r>
          </a:p>
          <a:p>
            <a:pPr fontAlgn="base"/>
            <a:r>
              <a:rPr lang="en-US" b="1" u="sng" dirty="0"/>
              <a:t>Calculation of C</a:t>
            </a:r>
            <a:r>
              <a:rPr lang="en-US" b="1" u="sng" baseline="-25000" dirty="0"/>
              <a:t>1</a:t>
            </a:r>
            <a:r>
              <a:rPr lang="en-US" b="1" u="sng" dirty="0" smtClean="0"/>
              <a:t>–</a:t>
            </a:r>
            <a:r>
              <a:rPr lang="en-US" dirty="0"/>
              <a:t> </a:t>
            </a:r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 = A</a:t>
            </a:r>
            <a:r>
              <a:rPr lang="en-US" baseline="-25000" dirty="0"/>
              <a:t>1</a:t>
            </a:r>
            <a:r>
              <a:rPr lang="en-US" dirty="0"/>
              <a:t>B</a:t>
            </a:r>
            <a:r>
              <a:rPr lang="en-US" baseline="-25000" dirty="0"/>
              <a:t>1</a:t>
            </a:r>
            <a:r>
              <a:rPr lang="en-US" dirty="0"/>
              <a:t> ⊕  B</a:t>
            </a:r>
            <a:r>
              <a:rPr lang="en-US" baseline="-25000" dirty="0"/>
              <a:t>1</a:t>
            </a:r>
            <a:r>
              <a:rPr lang="en-US" dirty="0"/>
              <a:t>C</a:t>
            </a:r>
            <a:r>
              <a:rPr lang="en-US" baseline="-25000" dirty="0"/>
              <a:t>0</a:t>
            </a:r>
            <a:r>
              <a:rPr lang="en-US" dirty="0"/>
              <a:t> ⊕ C</a:t>
            </a:r>
            <a:r>
              <a:rPr lang="en-US" baseline="-25000" dirty="0"/>
              <a:t>0</a:t>
            </a:r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 = 0.1 ⊕ 1.0 ⊕ 0.0</a:t>
            </a:r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 = 0 ⊕ 0 ⊕ 0</a:t>
            </a:r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 = 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614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6632"/>
            <a:ext cx="8229600" cy="6624736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u="sng" dirty="0"/>
              <a:t>Stage-03</a:t>
            </a:r>
            <a:r>
              <a:rPr lang="en-US" b="1" u="sng" dirty="0" smtClean="0"/>
              <a:t>:</a:t>
            </a:r>
            <a:endParaRPr lang="en-US" dirty="0"/>
          </a:p>
          <a:p>
            <a:pPr fontAlgn="base"/>
            <a:endParaRPr lang="en-US" dirty="0" smtClean="0"/>
          </a:p>
          <a:p>
            <a:pPr fontAlgn="base"/>
            <a:endParaRPr lang="en-US" dirty="0"/>
          </a:p>
          <a:p>
            <a:pPr fontAlgn="base"/>
            <a:r>
              <a:rPr lang="en-US" dirty="0" smtClean="0"/>
              <a:t>When </a:t>
            </a: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 is fed as input to the full adder C, it activates the full adder C.</a:t>
            </a:r>
          </a:p>
          <a:p>
            <a:pPr fontAlgn="base"/>
            <a:r>
              <a:rPr lang="en-US" dirty="0"/>
              <a:t>Then at full adder C, A</a:t>
            </a:r>
            <a:r>
              <a:rPr lang="en-US" baseline="-25000" dirty="0"/>
              <a:t>2</a:t>
            </a:r>
            <a:r>
              <a:rPr lang="en-US" dirty="0"/>
              <a:t> = 1, B</a:t>
            </a:r>
            <a:r>
              <a:rPr lang="en-US" baseline="-25000" dirty="0"/>
              <a:t>2</a:t>
            </a:r>
            <a:r>
              <a:rPr lang="en-US" dirty="0"/>
              <a:t> = 0, C</a:t>
            </a:r>
            <a:r>
              <a:rPr lang="en-US" baseline="-25000" dirty="0"/>
              <a:t>1</a:t>
            </a:r>
            <a:r>
              <a:rPr lang="en-US" dirty="0"/>
              <a:t> = 0</a:t>
            </a:r>
            <a:r>
              <a:rPr lang="en-US" dirty="0" smtClean="0"/>
              <a:t>.</a:t>
            </a:r>
            <a:endParaRPr lang="en-US" dirty="0"/>
          </a:p>
          <a:p>
            <a:pPr fontAlgn="base"/>
            <a:r>
              <a:rPr lang="en-US" dirty="0"/>
              <a:t>Full adder C computes the sum bit and carry bit </a:t>
            </a:r>
            <a:r>
              <a:rPr lang="en-US" dirty="0" smtClean="0"/>
              <a:t>as-</a:t>
            </a:r>
            <a:endParaRPr lang="en-US" dirty="0"/>
          </a:p>
          <a:p>
            <a:pPr fontAlgn="base"/>
            <a:r>
              <a:rPr lang="en-US" b="1" u="sng" dirty="0"/>
              <a:t>Calculation of S</a:t>
            </a:r>
            <a:r>
              <a:rPr lang="en-US" b="1" u="sng" baseline="-25000" dirty="0"/>
              <a:t>2</a:t>
            </a:r>
            <a:r>
              <a:rPr lang="en-US" b="1" u="sng" dirty="0" smtClean="0"/>
              <a:t>–</a:t>
            </a:r>
            <a:endParaRPr lang="en-US" dirty="0"/>
          </a:p>
          <a:p>
            <a:pPr marL="400050" lvl="1" indent="0" fontAlgn="base">
              <a:buNone/>
            </a:pPr>
            <a:r>
              <a:rPr lang="en-US" dirty="0"/>
              <a:t>S</a:t>
            </a:r>
            <a:r>
              <a:rPr lang="en-US" baseline="-25000" dirty="0"/>
              <a:t>2</a:t>
            </a:r>
            <a:r>
              <a:rPr lang="en-US" dirty="0"/>
              <a:t> = A</a:t>
            </a:r>
            <a:r>
              <a:rPr lang="en-US" baseline="-25000" dirty="0"/>
              <a:t>2</a:t>
            </a:r>
            <a:r>
              <a:rPr lang="en-US" dirty="0"/>
              <a:t> ⊕  B</a:t>
            </a:r>
            <a:r>
              <a:rPr lang="en-US" baseline="-25000" dirty="0"/>
              <a:t>2</a:t>
            </a:r>
            <a:r>
              <a:rPr lang="en-US" dirty="0"/>
              <a:t> ⊕ C</a:t>
            </a:r>
            <a:r>
              <a:rPr lang="en-US" baseline="-25000" dirty="0"/>
              <a:t>1</a:t>
            </a:r>
            <a:endParaRPr lang="en-US" dirty="0"/>
          </a:p>
          <a:p>
            <a:pPr marL="400050" lvl="1" indent="0" fontAlgn="base">
              <a:buNone/>
            </a:pPr>
            <a:r>
              <a:rPr lang="en-US" dirty="0"/>
              <a:t>S</a:t>
            </a:r>
            <a:r>
              <a:rPr lang="en-US" baseline="-25000" dirty="0"/>
              <a:t>2</a:t>
            </a:r>
            <a:r>
              <a:rPr lang="en-US" dirty="0"/>
              <a:t> = 1 ⊕ 0 ⊕ 0</a:t>
            </a:r>
          </a:p>
          <a:p>
            <a:pPr marL="400050" lvl="1" indent="0" fontAlgn="base">
              <a:buNone/>
            </a:pPr>
            <a:r>
              <a:rPr lang="en-US" dirty="0"/>
              <a:t>S</a:t>
            </a:r>
            <a:r>
              <a:rPr lang="en-US" baseline="-25000" dirty="0"/>
              <a:t>2</a:t>
            </a:r>
            <a:r>
              <a:rPr lang="en-US" dirty="0"/>
              <a:t> = </a:t>
            </a:r>
            <a:r>
              <a:rPr lang="en-US" dirty="0" smtClean="0"/>
              <a:t>1</a:t>
            </a:r>
            <a:endParaRPr lang="en-US" dirty="0"/>
          </a:p>
          <a:p>
            <a:pPr fontAlgn="base"/>
            <a:r>
              <a:rPr lang="en-US" b="1" u="sng" dirty="0"/>
              <a:t>Calculation of C</a:t>
            </a:r>
            <a:r>
              <a:rPr lang="en-US" b="1" u="sng" baseline="-25000" dirty="0"/>
              <a:t>2</a:t>
            </a:r>
            <a:r>
              <a:rPr lang="en-US" b="1" u="sng" dirty="0" smtClean="0"/>
              <a:t>–</a:t>
            </a:r>
            <a:endParaRPr lang="en-US" dirty="0"/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 = A</a:t>
            </a:r>
            <a:r>
              <a:rPr lang="en-US" baseline="-25000" dirty="0"/>
              <a:t>2</a:t>
            </a:r>
            <a:r>
              <a:rPr lang="en-US" dirty="0"/>
              <a:t>B</a:t>
            </a:r>
            <a:r>
              <a:rPr lang="en-US" baseline="-25000" dirty="0"/>
              <a:t>2</a:t>
            </a:r>
            <a:r>
              <a:rPr lang="en-US" dirty="0"/>
              <a:t> ⊕  B</a:t>
            </a:r>
            <a:r>
              <a:rPr lang="en-US" baseline="-25000" dirty="0"/>
              <a:t>2</a:t>
            </a: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 ⊕ C</a:t>
            </a:r>
            <a:r>
              <a:rPr lang="en-US" baseline="-25000" dirty="0"/>
              <a:t>1</a:t>
            </a:r>
            <a:r>
              <a:rPr lang="en-US" dirty="0"/>
              <a:t>A</a:t>
            </a:r>
            <a:r>
              <a:rPr lang="en-US" baseline="-25000" dirty="0"/>
              <a:t>2</a:t>
            </a:r>
            <a:endParaRPr lang="en-US" dirty="0"/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 = 1.0 ⊕ 0.0 ⊕ 0.1</a:t>
            </a:r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 = 0 ⊕ 0 ⊕ 0</a:t>
            </a:r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 = </a:t>
            </a:r>
            <a:r>
              <a:rPr lang="en-US" dirty="0" smtClean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491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60648"/>
            <a:ext cx="8229600" cy="6480720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b="1" u="sng" dirty="0"/>
              <a:t>Stage-04</a:t>
            </a:r>
            <a:r>
              <a:rPr lang="en-US" b="1" u="sng" dirty="0" smtClean="0"/>
              <a:t>:</a:t>
            </a:r>
            <a:r>
              <a:rPr lang="en-US" dirty="0"/>
              <a:t> </a:t>
            </a:r>
          </a:p>
          <a:p>
            <a:pPr fontAlgn="base"/>
            <a:endParaRPr lang="en-US" dirty="0" smtClean="0"/>
          </a:p>
          <a:p>
            <a:pPr fontAlgn="base"/>
            <a:endParaRPr lang="en-US" dirty="0"/>
          </a:p>
          <a:p>
            <a:pPr fontAlgn="base"/>
            <a:r>
              <a:rPr lang="en-US" dirty="0" smtClean="0"/>
              <a:t>When </a:t>
            </a: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 is fed as input to the full adder D, it activates the full adder D.</a:t>
            </a:r>
          </a:p>
          <a:p>
            <a:pPr fontAlgn="base"/>
            <a:r>
              <a:rPr lang="en-US" dirty="0"/>
              <a:t>Then at full adder D, A</a:t>
            </a:r>
            <a:r>
              <a:rPr lang="en-US" baseline="-25000" dirty="0"/>
              <a:t>3</a:t>
            </a:r>
            <a:r>
              <a:rPr lang="en-US" dirty="0"/>
              <a:t> = 0, B</a:t>
            </a:r>
            <a:r>
              <a:rPr lang="en-US" baseline="-25000" dirty="0"/>
              <a:t>3</a:t>
            </a:r>
            <a:r>
              <a:rPr lang="en-US" dirty="0"/>
              <a:t> = 1, C</a:t>
            </a:r>
            <a:r>
              <a:rPr lang="en-US" baseline="-25000" dirty="0"/>
              <a:t>2</a:t>
            </a:r>
            <a:r>
              <a:rPr lang="en-US" dirty="0"/>
              <a:t> = </a:t>
            </a:r>
            <a:r>
              <a:rPr lang="en-US" dirty="0" smtClean="0"/>
              <a:t>0. </a:t>
            </a:r>
          </a:p>
          <a:p>
            <a:pPr fontAlgn="base"/>
            <a:r>
              <a:rPr lang="en-US" dirty="0" smtClean="0"/>
              <a:t>Full </a:t>
            </a:r>
            <a:r>
              <a:rPr lang="en-US" dirty="0"/>
              <a:t>adder D computes the sum bit and carry bit </a:t>
            </a:r>
            <a:r>
              <a:rPr lang="en-US" dirty="0" smtClean="0"/>
              <a:t>as-</a:t>
            </a:r>
            <a:r>
              <a:rPr lang="en-US" dirty="0"/>
              <a:t> </a:t>
            </a:r>
          </a:p>
          <a:p>
            <a:pPr fontAlgn="base"/>
            <a:r>
              <a:rPr lang="en-US" b="1" u="sng" dirty="0"/>
              <a:t>Calculation of S</a:t>
            </a:r>
            <a:r>
              <a:rPr lang="en-US" b="1" u="sng" baseline="-25000" dirty="0"/>
              <a:t>3</a:t>
            </a:r>
            <a:r>
              <a:rPr lang="en-US" b="1" u="sng" dirty="0" smtClean="0"/>
              <a:t>–</a:t>
            </a:r>
            <a:endParaRPr lang="en-US" dirty="0"/>
          </a:p>
          <a:p>
            <a:pPr marL="400050" lvl="1" indent="0" fontAlgn="base">
              <a:buNone/>
            </a:pPr>
            <a:r>
              <a:rPr lang="en-US" dirty="0" smtClean="0"/>
              <a:t>S</a:t>
            </a:r>
            <a:r>
              <a:rPr lang="en-US" baseline="-25000" dirty="0" smtClean="0"/>
              <a:t>3</a:t>
            </a:r>
            <a:r>
              <a:rPr lang="en-US" dirty="0"/>
              <a:t> = A</a:t>
            </a:r>
            <a:r>
              <a:rPr lang="en-US" baseline="-25000" dirty="0"/>
              <a:t>3</a:t>
            </a:r>
            <a:r>
              <a:rPr lang="en-US" dirty="0"/>
              <a:t> ⊕  B</a:t>
            </a:r>
            <a:r>
              <a:rPr lang="en-US" baseline="-25000" dirty="0"/>
              <a:t>3</a:t>
            </a:r>
            <a:r>
              <a:rPr lang="en-US" dirty="0"/>
              <a:t> ⊕ C</a:t>
            </a:r>
            <a:r>
              <a:rPr lang="en-US" baseline="-25000" dirty="0"/>
              <a:t>2</a:t>
            </a:r>
            <a:endParaRPr lang="en-US" dirty="0"/>
          </a:p>
          <a:p>
            <a:pPr marL="400050" lvl="1" indent="0" fontAlgn="base">
              <a:buNone/>
            </a:pPr>
            <a:r>
              <a:rPr lang="en-US" dirty="0"/>
              <a:t>S</a:t>
            </a:r>
            <a:r>
              <a:rPr lang="en-US" baseline="-25000" dirty="0"/>
              <a:t>3</a:t>
            </a:r>
            <a:r>
              <a:rPr lang="en-US" dirty="0"/>
              <a:t> = 0 ⊕ 1 ⊕ 0</a:t>
            </a:r>
          </a:p>
          <a:p>
            <a:pPr marL="400050" lvl="1" indent="0" fontAlgn="base">
              <a:buNone/>
            </a:pPr>
            <a:r>
              <a:rPr lang="en-US" dirty="0"/>
              <a:t>S</a:t>
            </a:r>
            <a:r>
              <a:rPr lang="en-US" baseline="-25000" dirty="0"/>
              <a:t>3</a:t>
            </a:r>
            <a:r>
              <a:rPr lang="en-US" dirty="0"/>
              <a:t> = </a:t>
            </a:r>
            <a:r>
              <a:rPr lang="en-US" dirty="0" smtClean="0"/>
              <a:t>1</a:t>
            </a:r>
            <a:r>
              <a:rPr lang="en-US" dirty="0"/>
              <a:t> </a:t>
            </a:r>
          </a:p>
          <a:p>
            <a:pPr fontAlgn="base"/>
            <a:r>
              <a:rPr lang="en-US" b="1" u="sng" dirty="0"/>
              <a:t>Calculation of C</a:t>
            </a:r>
            <a:r>
              <a:rPr lang="en-US" b="1" u="sng" baseline="-25000" dirty="0"/>
              <a:t>3</a:t>
            </a:r>
            <a:r>
              <a:rPr lang="en-US" b="1" u="sng" dirty="0" smtClean="0"/>
              <a:t>–</a:t>
            </a:r>
            <a:endParaRPr lang="en-US" dirty="0"/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3</a:t>
            </a:r>
            <a:r>
              <a:rPr lang="en-US" dirty="0"/>
              <a:t> = A</a:t>
            </a:r>
            <a:r>
              <a:rPr lang="en-US" baseline="-25000" dirty="0"/>
              <a:t>3</a:t>
            </a:r>
            <a:r>
              <a:rPr lang="en-US" dirty="0"/>
              <a:t>B</a:t>
            </a:r>
            <a:r>
              <a:rPr lang="en-US" baseline="-25000" dirty="0"/>
              <a:t>3</a:t>
            </a:r>
            <a:r>
              <a:rPr lang="en-US" dirty="0"/>
              <a:t> ⊕  B</a:t>
            </a:r>
            <a:r>
              <a:rPr lang="en-US" baseline="-25000" dirty="0"/>
              <a:t>3</a:t>
            </a: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 ⊕ C</a:t>
            </a:r>
            <a:r>
              <a:rPr lang="en-US" baseline="-25000" dirty="0"/>
              <a:t>2</a:t>
            </a:r>
            <a:r>
              <a:rPr lang="en-US" dirty="0"/>
              <a:t>A</a:t>
            </a:r>
            <a:r>
              <a:rPr lang="en-US" baseline="-25000" dirty="0"/>
              <a:t>3</a:t>
            </a:r>
            <a:endParaRPr lang="en-US" dirty="0"/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3</a:t>
            </a:r>
            <a:r>
              <a:rPr lang="en-US" dirty="0"/>
              <a:t> = 0.1 ⊕ 1.0 ⊕ 0.0</a:t>
            </a:r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3</a:t>
            </a:r>
            <a:r>
              <a:rPr lang="en-US" dirty="0"/>
              <a:t> = 0 ⊕ 0 ⊕ 0</a:t>
            </a:r>
          </a:p>
          <a:p>
            <a:pPr marL="400050" lvl="1" indent="0" fontAlgn="base">
              <a:buNone/>
            </a:pPr>
            <a:r>
              <a:rPr lang="en-US" dirty="0"/>
              <a:t>C</a:t>
            </a:r>
            <a:r>
              <a:rPr lang="en-US" baseline="-25000" dirty="0"/>
              <a:t>3</a:t>
            </a:r>
            <a:r>
              <a:rPr lang="en-US" dirty="0"/>
              <a:t> = </a:t>
            </a:r>
            <a:r>
              <a:rPr lang="en-US" dirty="0" smtClean="0"/>
              <a:t>0</a:t>
            </a:r>
            <a:r>
              <a:rPr lang="en-US" dirty="0"/>
              <a:t> </a:t>
            </a:r>
          </a:p>
          <a:p>
            <a:pPr marL="400050" lvl="1" indent="0" fontAlgn="base">
              <a:buNone/>
            </a:pPr>
            <a:r>
              <a:rPr lang="en-US" dirty="0"/>
              <a:t>Thus finally,</a:t>
            </a:r>
          </a:p>
          <a:p>
            <a:pPr marL="400050" lvl="1" indent="0" fontAlgn="base">
              <a:buNone/>
            </a:pPr>
            <a:r>
              <a:rPr lang="en-US" dirty="0"/>
              <a:t>Output Sum = S</a:t>
            </a:r>
            <a:r>
              <a:rPr lang="en-US" baseline="-25000" dirty="0"/>
              <a:t>3</a:t>
            </a:r>
            <a:r>
              <a:rPr lang="en-US" dirty="0"/>
              <a:t>S</a:t>
            </a:r>
            <a:r>
              <a:rPr lang="en-US" baseline="-25000" dirty="0"/>
              <a:t>2</a:t>
            </a:r>
            <a:r>
              <a:rPr lang="en-US" dirty="0"/>
              <a:t>S</a:t>
            </a:r>
            <a:r>
              <a:rPr lang="en-US" baseline="-25000" dirty="0"/>
              <a:t>1</a:t>
            </a:r>
            <a:r>
              <a:rPr lang="en-US" dirty="0"/>
              <a:t>S</a:t>
            </a:r>
            <a:r>
              <a:rPr lang="en-US" baseline="-25000" dirty="0"/>
              <a:t>0</a:t>
            </a:r>
            <a:r>
              <a:rPr lang="en-US" dirty="0"/>
              <a:t> = 1111</a:t>
            </a:r>
          </a:p>
          <a:p>
            <a:pPr marL="400050" lvl="1" indent="0" fontAlgn="base">
              <a:buNone/>
            </a:pPr>
            <a:r>
              <a:rPr lang="en-US" dirty="0"/>
              <a:t>Output Carry = C</a:t>
            </a:r>
            <a:r>
              <a:rPr lang="en-US" baseline="-25000" dirty="0"/>
              <a:t>3 </a:t>
            </a:r>
            <a:r>
              <a:rPr lang="en-US" dirty="0"/>
              <a:t>= 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82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476672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Disadvantages of Ripple Carry Adder-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Ripple Carry Adder does not allow to use all the full adders simultaneously.</a:t>
            </a:r>
          </a:p>
          <a:p>
            <a:r>
              <a:rPr lang="en-US" dirty="0" smtClean="0"/>
              <a:t>Each full adder has to necessarily wait until the carry bit becomes available from its adjacent full adder.</a:t>
            </a:r>
          </a:p>
          <a:p>
            <a:r>
              <a:rPr lang="en-US" dirty="0" smtClean="0"/>
              <a:t>This increases the propagation time.</a:t>
            </a:r>
          </a:p>
          <a:p>
            <a:r>
              <a:rPr lang="en-US" dirty="0" smtClean="0"/>
              <a:t>Due to this reason, ripple carry adder becomes extremely slow.</a:t>
            </a:r>
          </a:p>
          <a:p>
            <a:r>
              <a:rPr lang="en-US" dirty="0" smtClean="0"/>
              <a:t>This is considered to be the biggest disadvantage of using ripple carry adder.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021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  <a:latin typeface="Algerian" pitchFamily="82" charset="0"/>
              </a:rPr>
              <a:t>                                  THANK YOU</a:t>
            </a:r>
            <a:endParaRPr lang="en-US" dirty="0">
              <a:solidFill>
                <a:srgbClr val="FF000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7903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31</TotalTime>
  <Words>187</Words>
  <Application>Microsoft Office PowerPoint</Application>
  <PresentationFormat>On-screen Show (4:3)</PresentationFormat>
  <Paragraphs>88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Civic</vt:lpstr>
      <vt:lpstr>RIPPLE CARRY ADDER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Disadvantages of Ripple Carry Adder-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RIPPLE CARRY ADDER</dc:title>
  <dc:creator>fahmida</dc:creator>
  <cp:lastModifiedBy>fahmida</cp:lastModifiedBy>
  <cp:revision>13</cp:revision>
  <dcterms:created xsi:type="dcterms:W3CDTF">2020-09-13T16:44:30Z</dcterms:created>
  <dcterms:modified xsi:type="dcterms:W3CDTF">2020-09-13T17:15:58Z</dcterms:modified>
</cp:coreProperties>
</file>