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347B89C9-68A5-4FA6-A9F8-38DCEB56CCFF}" type="datetimeFigureOut">
              <a:rPr lang="en-US" smtClean="0"/>
              <a:t>11/26/2020</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86E2BAD1-F40B-465C-AE2D-2A670FEBAF2D}" type="slidenum">
              <a:rPr lang="en-US" smtClean="0"/>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47B89C9-68A5-4FA6-A9F8-38DCEB56CCFF}" type="datetimeFigureOut">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E2BAD1-F40B-465C-AE2D-2A670FEBAF2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47B89C9-68A5-4FA6-A9F8-38DCEB56CCFF}" type="datetimeFigureOut">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86E2BAD1-F40B-465C-AE2D-2A670FEBAF2D}"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47B89C9-68A5-4FA6-A9F8-38DCEB56CCFF}" type="datetimeFigureOut">
              <a:rPr lang="en-US" smtClean="0"/>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E2BAD1-F40B-465C-AE2D-2A670FEBAF2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47B89C9-68A5-4FA6-A9F8-38DCEB56CCFF}" type="datetimeFigureOut">
              <a:rPr lang="en-US" smtClean="0"/>
              <a:t>11/26/2020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E2BAD1-F40B-465C-AE2D-2A670FEBAF2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47B89C9-68A5-4FA6-A9F8-38DCEB56CCFF}" type="datetimeFigureOut">
              <a:rPr lang="en-US" smtClean="0"/>
              <a:t>11/26/2020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E2BAD1-F40B-465C-AE2D-2A670FEBAF2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7B89C9-68A5-4FA6-A9F8-38DCEB56CCFF}" type="datetimeFigureOut">
              <a:rPr lang="en-US" smtClean="0"/>
              <a:t>11/26/2020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E2BAD1-F40B-465C-AE2D-2A670FEBAF2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47B89C9-68A5-4FA6-A9F8-38DCEB56CCFF}" type="datetimeFigureOut">
              <a:rPr lang="en-US" smtClean="0"/>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E2BAD1-F40B-465C-AE2D-2A670FEBAF2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47B89C9-68A5-4FA6-A9F8-38DCEB56CCFF}" type="datetimeFigureOut">
              <a:rPr lang="en-US" smtClean="0"/>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E2BAD1-F40B-465C-AE2D-2A670FEBAF2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47B89C9-68A5-4FA6-A9F8-38DCEB56CCFF}" type="datetimeFigureOut">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E2BAD1-F40B-465C-AE2D-2A670FEBAF2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47B89C9-68A5-4FA6-A9F8-38DCEB56CCFF}" type="datetimeFigureOut">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E2BAD1-F40B-465C-AE2D-2A670FEBAF2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347B89C9-68A5-4FA6-A9F8-38DCEB56CCFF}" type="datetimeFigureOut">
              <a:rPr lang="en-US" smtClean="0"/>
              <a:t>11/26/2020</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86E2BAD1-F40B-465C-AE2D-2A670FEBAF2D}"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sz="3600" dirty="0" smtClean="0">
                <a:solidFill>
                  <a:schemeClr val="accent1"/>
                </a:solidFill>
                <a:latin typeface="Algerian" pitchFamily="82" charset="0"/>
              </a:rPr>
              <a:t>Sequential Logic  </a:t>
            </a:r>
            <a:r>
              <a:rPr lang="en-US" sz="3600" dirty="0">
                <a:solidFill>
                  <a:schemeClr val="accent1"/>
                </a:solidFill>
                <a:latin typeface="Algerian" pitchFamily="82" charset="0"/>
              </a:rPr>
              <a:t>Circuits</a:t>
            </a:r>
            <a:br>
              <a:rPr lang="en-US" sz="3600" dirty="0">
                <a:solidFill>
                  <a:schemeClr val="accent1"/>
                </a:solidFill>
                <a:latin typeface="Algerian" pitchFamily="82" charset="0"/>
              </a:rPr>
            </a:br>
            <a:endParaRPr lang="en-US" sz="3600" dirty="0">
              <a:solidFill>
                <a:schemeClr val="accent1"/>
              </a:solidFill>
              <a:latin typeface="Algerian" pitchFamily="82" charset="0"/>
            </a:endParaRP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5216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The combinational circuit does not use any memory. </a:t>
            </a:r>
            <a:endParaRPr lang="en-US" dirty="0" smtClean="0"/>
          </a:p>
          <a:p>
            <a:r>
              <a:rPr lang="en-US" dirty="0" smtClean="0"/>
              <a:t>Hence </a:t>
            </a:r>
            <a:r>
              <a:rPr lang="en-US" dirty="0"/>
              <a:t>the previous state of input does not have any effect on the present state of the circuit</a:t>
            </a:r>
            <a:r>
              <a:rPr lang="en-US" dirty="0" smtClean="0"/>
              <a:t>.</a:t>
            </a:r>
          </a:p>
          <a:p>
            <a:r>
              <a:rPr lang="en-US" dirty="0" smtClean="0"/>
              <a:t> </a:t>
            </a:r>
            <a:r>
              <a:rPr lang="en-US" dirty="0"/>
              <a:t>But sequential circuit has memory so output can vary based on input</a:t>
            </a:r>
            <a:r>
              <a:rPr lang="en-US" dirty="0" smtClean="0"/>
              <a:t>.</a:t>
            </a:r>
          </a:p>
          <a:p>
            <a:r>
              <a:rPr lang="en-US" dirty="0" smtClean="0"/>
              <a:t> </a:t>
            </a:r>
            <a:r>
              <a:rPr lang="en-US" dirty="0"/>
              <a:t>This type of circuits uses previous input, output, clock and a memory element.</a:t>
            </a:r>
          </a:p>
        </p:txBody>
      </p:sp>
    </p:spTree>
    <p:extLst>
      <p:ext uri="{BB962C8B-B14F-4D97-AF65-F5344CB8AC3E}">
        <p14:creationId xmlns:p14="http://schemas.microsoft.com/office/powerpoint/2010/main" val="3953073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31640" y="2132856"/>
            <a:ext cx="6552728"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0127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The sequential circuit is a special type of circuit that has a series of inputs and outputs. </a:t>
            </a:r>
            <a:endParaRPr lang="en-US" dirty="0" smtClean="0"/>
          </a:p>
          <a:p>
            <a:r>
              <a:rPr lang="en-US" dirty="0" smtClean="0"/>
              <a:t>The </a:t>
            </a:r>
            <a:r>
              <a:rPr lang="en-US" dirty="0"/>
              <a:t>outputs of the sequential circuits depend on both the combination of present inputs and previous outputs. </a:t>
            </a:r>
            <a:endParaRPr lang="en-US" dirty="0" smtClean="0"/>
          </a:p>
          <a:p>
            <a:r>
              <a:rPr lang="en-US" dirty="0" smtClean="0"/>
              <a:t>The </a:t>
            </a:r>
            <a:r>
              <a:rPr lang="en-US" dirty="0"/>
              <a:t>previous output is treated as the present state. </a:t>
            </a:r>
            <a:endParaRPr lang="en-US" dirty="0" smtClean="0"/>
          </a:p>
          <a:p>
            <a:r>
              <a:rPr lang="en-US" dirty="0" smtClean="0"/>
              <a:t>So</a:t>
            </a:r>
            <a:r>
              <a:rPr lang="en-US" dirty="0"/>
              <a:t>, the sequential circuit contains the combinational circuit and its memory storage elements</a:t>
            </a:r>
            <a:r>
              <a:rPr lang="en-US" dirty="0" smtClean="0"/>
              <a:t>.</a:t>
            </a:r>
          </a:p>
          <a:p>
            <a:r>
              <a:rPr lang="en-US" dirty="0" smtClean="0"/>
              <a:t> </a:t>
            </a:r>
            <a:r>
              <a:rPr lang="en-US" dirty="0"/>
              <a:t>A sequential circuit doesn't need to always contain a combinational circuit. So, the sequential circuit can contain only the memory element</a:t>
            </a:r>
          </a:p>
        </p:txBody>
      </p:sp>
    </p:spTree>
    <p:extLst>
      <p:ext uri="{BB962C8B-B14F-4D97-AF65-F5344CB8AC3E}">
        <p14:creationId xmlns:p14="http://schemas.microsoft.com/office/powerpoint/2010/main" val="1330501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504" y="764704"/>
            <a:ext cx="9036496" cy="568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2034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Types of Sequential Circuits</a:t>
            </a:r>
            <a:br>
              <a:rPr lang="en-US" dirty="0"/>
            </a:br>
            <a:endParaRPr lang="en-US" dirty="0"/>
          </a:p>
        </p:txBody>
      </p:sp>
      <p:sp>
        <p:nvSpPr>
          <p:cNvPr id="3" name="Content Placeholder 2"/>
          <p:cNvSpPr>
            <a:spLocks noGrp="1"/>
          </p:cNvSpPr>
          <p:nvPr>
            <p:ph idx="1"/>
          </p:nvPr>
        </p:nvSpPr>
        <p:spPr/>
        <p:txBody>
          <a:bodyPr>
            <a:normAutofit/>
          </a:bodyPr>
          <a:lstStyle/>
          <a:p>
            <a:r>
              <a:rPr lang="en-US" b="1" dirty="0"/>
              <a:t>Asynchronous sequential circuits</a:t>
            </a:r>
          </a:p>
          <a:p>
            <a:pPr lvl="1"/>
            <a:r>
              <a:rPr lang="en-US" dirty="0"/>
              <a:t>The clock signals are not used by the </a:t>
            </a:r>
            <a:r>
              <a:rPr lang="en-US" b="1" dirty="0"/>
              <a:t>Asynchronous sequential circuits</a:t>
            </a:r>
            <a:r>
              <a:rPr lang="en-US" dirty="0"/>
              <a:t>. </a:t>
            </a:r>
            <a:endParaRPr lang="en-US" dirty="0" smtClean="0"/>
          </a:p>
          <a:p>
            <a:pPr lvl="1"/>
            <a:r>
              <a:rPr lang="en-US" dirty="0" smtClean="0"/>
              <a:t>The </a:t>
            </a:r>
            <a:r>
              <a:rPr lang="en-US" dirty="0"/>
              <a:t>asynchronous circuit is operated through the pulses. So, the changes in the input can change the state of the circuit. </a:t>
            </a:r>
            <a:endParaRPr lang="en-US" dirty="0" smtClean="0"/>
          </a:p>
          <a:p>
            <a:pPr lvl="1"/>
            <a:r>
              <a:rPr lang="en-US" dirty="0" smtClean="0"/>
              <a:t>The </a:t>
            </a:r>
            <a:r>
              <a:rPr lang="en-US" dirty="0"/>
              <a:t>asynchronous circuits do not use clock pulses. The internal state is changed when the input variable is changed.</a:t>
            </a:r>
          </a:p>
          <a:p>
            <a:endParaRPr lang="en-US" dirty="0"/>
          </a:p>
        </p:txBody>
      </p:sp>
    </p:spTree>
    <p:extLst>
      <p:ext uri="{BB962C8B-B14F-4D97-AF65-F5344CB8AC3E}">
        <p14:creationId xmlns:p14="http://schemas.microsoft.com/office/powerpoint/2010/main" val="2205948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Synchronous sequential circuits</a:t>
            </a:r>
          </a:p>
          <a:p>
            <a:pPr lvl="1"/>
            <a:r>
              <a:rPr lang="en-US" dirty="0"/>
              <a:t>In synchronous sequential circuits, synchronization of the memory element's state is done by the clock signal</a:t>
            </a:r>
            <a:r>
              <a:rPr lang="en-US" dirty="0" smtClean="0"/>
              <a:t>.</a:t>
            </a:r>
          </a:p>
          <a:p>
            <a:pPr lvl="1"/>
            <a:r>
              <a:rPr lang="en-US" dirty="0" smtClean="0"/>
              <a:t> </a:t>
            </a:r>
            <a:r>
              <a:rPr lang="en-US" dirty="0"/>
              <a:t>The output is stored in either flip-flops or latches(memory devices). </a:t>
            </a:r>
            <a:endParaRPr lang="en-US" dirty="0" smtClean="0"/>
          </a:p>
          <a:p>
            <a:pPr lvl="1"/>
            <a:r>
              <a:rPr lang="en-US" dirty="0" smtClean="0"/>
              <a:t>The </a:t>
            </a:r>
            <a:r>
              <a:rPr lang="en-US" dirty="0"/>
              <a:t>synchronization of the outputs is done with either only negative edges of the clock signal or only positive edges.</a:t>
            </a:r>
          </a:p>
          <a:p>
            <a:pPr lvl="1"/>
            <a:endParaRPr lang="en-US" dirty="0"/>
          </a:p>
        </p:txBody>
      </p:sp>
    </p:spTree>
    <p:extLst>
      <p:ext uri="{BB962C8B-B14F-4D97-AF65-F5344CB8AC3E}">
        <p14:creationId xmlns:p14="http://schemas.microsoft.com/office/powerpoint/2010/main" val="1439664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Clock Signal and Triggering</a:t>
            </a:r>
            <a:br>
              <a:rPr lang="en-US" dirty="0" smtClean="0"/>
            </a:br>
            <a:endParaRPr lang="en-US" dirty="0"/>
          </a:p>
        </p:txBody>
      </p:sp>
      <p:sp>
        <p:nvSpPr>
          <p:cNvPr id="3" name="Content Placeholder 2"/>
          <p:cNvSpPr>
            <a:spLocks noGrp="1"/>
          </p:cNvSpPr>
          <p:nvPr>
            <p:ph idx="1"/>
          </p:nvPr>
        </p:nvSpPr>
        <p:spPr>
          <a:xfrm>
            <a:off x="323528" y="980728"/>
            <a:ext cx="8229600" cy="5472608"/>
          </a:xfrm>
        </p:spPr>
        <p:txBody>
          <a:bodyPr>
            <a:normAutofit/>
          </a:bodyPr>
          <a:lstStyle/>
          <a:p>
            <a:r>
              <a:rPr lang="en-US" dirty="0" smtClean="0"/>
              <a:t>Clock </a:t>
            </a:r>
            <a:r>
              <a:rPr lang="en-US" dirty="0"/>
              <a:t>signal</a:t>
            </a:r>
          </a:p>
          <a:p>
            <a:pPr lvl="1"/>
            <a:r>
              <a:rPr lang="en-US" dirty="0"/>
              <a:t>A clock signal is a periodic signal in which ON time and OFF time need not be the same. </a:t>
            </a:r>
            <a:endParaRPr lang="en-US" dirty="0" smtClean="0"/>
          </a:p>
          <a:p>
            <a:pPr lvl="1"/>
            <a:r>
              <a:rPr lang="en-US" dirty="0" smtClean="0"/>
              <a:t>When </a:t>
            </a:r>
            <a:r>
              <a:rPr lang="en-US" dirty="0"/>
              <a:t>ON time and OFF time of the clock signal are the same, a square wave is used to represent the clock signal. </a:t>
            </a:r>
            <a:endParaRPr lang="en-US" dirty="0" smtClean="0"/>
          </a:p>
          <a:p>
            <a:pPr lvl="1"/>
            <a:r>
              <a:rPr lang="en-US" dirty="0" smtClean="0"/>
              <a:t>Below </a:t>
            </a:r>
            <a:r>
              <a:rPr lang="en-US" dirty="0"/>
              <a:t>is a diagram which represents the clock signal:</a:t>
            </a:r>
          </a:p>
          <a:p>
            <a:pPr lvl="1"/>
            <a:r>
              <a:rPr lang="en-US" dirty="0" smtClean="0"/>
              <a:t/>
            </a:r>
            <a:br>
              <a:rPr lang="en-US" dirty="0" smtClean="0"/>
            </a:br>
            <a:endParaRPr lang="en-US" dirty="0"/>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4725144"/>
            <a:ext cx="5760640" cy="1873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0281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b="1" dirty="0"/>
              <a:t>Types of Triggering</a:t>
            </a:r>
          </a:p>
          <a:p>
            <a:r>
              <a:rPr lang="en-US" dirty="0"/>
              <a:t>These are two types of triggering in sequential circuits</a:t>
            </a:r>
            <a:r>
              <a:rPr lang="en-US" dirty="0" smtClean="0"/>
              <a:t>:</a:t>
            </a:r>
          </a:p>
          <a:p>
            <a:pPr marL="514350" indent="-514350">
              <a:buFont typeface="+mj-lt"/>
              <a:buAutoNum type="arabicPeriod"/>
            </a:pPr>
            <a:r>
              <a:rPr lang="en-US" dirty="0"/>
              <a:t>Level triggering</a:t>
            </a:r>
          </a:p>
          <a:p>
            <a:r>
              <a:rPr lang="en-US" dirty="0"/>
              <a:t>The logic High and logic Low are the two levels in the clock signal. In level triggering, when the clock pulse is at a particular level, only then the circuit is activated. There are the following types of level triggering:</a:t>
            </a:r>
          </a:p>
          <a:p>
            <a:pPr marL="1314450" lvl="2" indent="-514350">
              <a:buFont typeface="+mj-lt"/>
              <a:buAutoNum type="arabicPeriod"/>
            </a:pPr>
            <a:endParaRPr lang="en-US" dirty="0"/>
          </a:p>
        </p:txBody>
      </p:sp>
    </p:spTree>
    <p:extLst>
      <p:ext uri="{BB962C8B-B14F-4D97-AF65-F5344CB8AC3E}">
        <p14:creationId xmlns:p14="http://schemas.microsoft.com/office/powerpoint/2010/main" val="2645364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dirty="0" smtClean="0"/>
              <a:t>Positive level triggering</a:t>
            </a:r>
          </a:p>
          <a:p>
            <a:pPr lvl="1"/>
            <a:r>
              <a:rPr lang="en-US" dirty="0" smtClean="0"/>
              <a:t>In a positive level triggering, the signal with Logic High occurs. So, in this triggering, the circuit is operated with such type of clock signal. Below is the diagram of positive level triggering:</a:t>
            </a:r>
          </a:p>
          <a:p>
            <a:endParaRPr lang="en-US" dirty="0"/>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4135129"/>
            <a:ext cx="494347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4394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dirty="0"/>
              <a:t>Negative level triggering</a:t>
            </a:r>
          </a:p>
          <a:p>
            <a:pPr lvl="1"/>
            <a:r>
              <a:rPr lang="en-US" dirty="0"/>
              <a:t>In negative level triggering, the signal with Logic Low occurs. So, in this triggering, the circuit is operated with such type of clock signal. Below is the diagram of Negative level triggering:</a:t>
            </a:r>
          </a:p>
          <a:p>
            <a:pPr marL="457200" lvl="1" indent="0">
              <a:buNone/>
            </a:pP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4437112"/>
            <a:ext cx="6768752" cy="1559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5407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2.Edge </a:t>
            </a:r>
            <a:r>
              <a:rPr lang="en-US" dirty="0"/>
              <a:t>triggering</a:t>
            </a:r>
          </a:p>
          <a:p>
            <a:r>
              <a:rPr lang="en-US" dirty="0"/>
              <a:t>In clock signal of edge triggering, two types of transitions occur, i.e., transition either from Logic Low to Logic High or Logic High to Logic Low.</a:t>
            </a:r>
          </a:p>
          <a:p>
            <a:endParaRPr lang="en-US" dirty="0"/>
          </a:p>
        </p:txBody>
      </p:sp>
    </p:spTree>
    <p:extLst>
      <p:ext uri="{BB962C8B-B14F-4D97-AF65-F5344CB8AC3E}">
        <p14:creationId xmlns:p14="http://schemas.microsoft.com/office/powerpoint/2010/main" val="932139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r>
              <a:rPr lang="en-US" dirty="0"/>
              <a:t>Positive edge triggering</a:t>
            </a:r>
          </a:p>
          <a:p>
            <a:pPr lvl="1"/>
            <a:r>
              <a:rPr lang="en-US" dirty="0"/>
              <a:t>The transition from Logic Low to Logic High occurs in the clock signal of positive edge triggering. So, in positive edge triggering, the circuit is operated with such type of clock signal. The diagram of positive edge triggering is given below.</a:t>
            </a:r>
          </a:p>
          <a:p>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4581128"/>
            <a:ext cx="5457825"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4010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1"/>
            <a:r>
              <a:rPr lang="en-US" dirty="0"/>
              <a:t>Negative edge triggering</a:t>
            </a:r>
          </a:p>
          <a:p>
            <a:pPr lvl="1"/>
            <a:r>
              <a:rPr lang="en-US" dirty="0"/>
              <a:t>The transition from Logic High to Logic low occurs in the clock signal of negative edge triggering. So, in negative edge triggering, the circuit is operated with such type of clock signal. The diagram of negative edge triggering is given below.</a:t>
            </a:r>
          </a:p>
          <a:p>
            <a:pPr marL="0" indent="0">
              <a:buNone/>
            </a:pPr>
            <a:r>
              <a:rPr lang="en-US" dirty="0" smtClean="0"/>
              <a:t/>
            </a:r>
            <a:br>
              <a:rPr lang="en-US" dirty="0" smtClean="0"/>
            </a:b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4653136"/>
            <a:ext cx="5832648" cy="1650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520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IN" sz="4000" b="1" dirty="0" smtClean="0">
                <a:latin typeface="Algerian" pitchFamily="82" charset="0"/>
              </a:rPr>
              <a:t> </a:t>
            </a:r>
          </a:p>
          <a:p>
            <a:pPr marL="0" indent="0">
              <a:buNone/>
            </a:pPr>
            <a:r>
              <a:rPr lang="en-IN" sz="4000" b="1" dirty="0">
                <a:latin typeface="Algerian" pitchFamily="82" charset="0"/>
              </a:rPr>
              <a:t> </a:t>
            </a:r>
            <a:r>
              <a:rPr lang="en-IN" sz="4000" b="1" dirty="0" smtClean="0">
                <a:latin typeface="Algerian" pitchFamily="82" charset="0"/>
              </a:rPr>
              <a:t>          Thank you</a:t>
            </a:r>
            <a:endParaRPr lang="en-US" sz="4000" b="1" dirty="0">
              <a:latin typeface="Algerian" pitchFamily="82" charset="0"/>
            </a:endParaRPr>
          </a:p>
        </p:txBody>
      </p:sp>
    </p:spTree>
    <p:extLst>
      <p:ext uri="{BB962C8B-B14F-4D97-AF65-F5344CB8AC3E}">
        <p14:creationId xmlns:p14="http://schemas.microsoft.com/office/powerpoint/2010/main" val="6993254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20</TotalTime>
  <Words>554</Words>
  <Application>Microsoft Office PowerPoint</Application>
  <PresentationFormat>On-screen Show (4:3)</PresentationFormat>
  <Paragraphs>42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Apex</vt:lpstr>
      <vt:lpstr>Sequential Logic  Circuits </vt:lpstr>
      <vt:lpstr>PowerPoint Presentation</vt:lpstr>
      <vt:lpstr>PowerPoint Presentation</vt:lpstr>
      <vt:lpstr>PowerPoint Presentation</vt:lpstr>
      <vt:lpstr>PowerPoint Presentation</vt:lpstr>
      <vt:lpstr>Types of Sequential Circuits </vt:lpstr>
      <vt:lpstr>PowerPoint Presentation</vt:lpstr>
      <vt:lpstr>Clock Signal and Triggering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Sequential Logic  Circuits </dc:title>
  <dc:creator>fahmida</dc:creator>
  <cp:lastModifiedBy>fahmida</cp:lastModifiedBy>
  <cp:revision>13</cp:revision>
  <dcterms:created xsi:type="dcterms:W3CDTF">2020-11-26T15:09:39Z</dcterms:created>
  <dcterms:modified xsi:type="dcterms:W3CDTF">2020-11-26T15:29:48Z</dcterms:modified>
</cp:coreProperties>
</file>